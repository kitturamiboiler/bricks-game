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0"/>
  </p:notesMasterIdLst>
  <p:sldIdLst>
    <p:sldId id="256" r:id="rId3"/>
    <p:sldId id="257" r:id="rId4"/>
    <p:sldId id="258" r:id="rId5"/>
    <p:sldId id="270" r:id="rId6"/>
    <p:sldId id="269" r:id="rId7"/>
    <p:sldId id="272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3" r:id="rId16"/>
    <p:sldId id="274" r:id="rId17"/>
    <p:sldId id="275" r:id="rId18"/>
    <p:sldId id="267" r:id="rId19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3DC208-B9EC-4C59-91B1-944570CFEFD6}" v="3598" dt="2026-01-16T15:29:36.8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ko-KR" sz="4400" b="0" strike="noStrike" spc="-1">
                <a:latin typeface="Noto Sans CJK KR"/>
              </a:rPr>
              <a:t>슬라이드를 이동하려면 클릭하십시오</a:t>
            </a:r>
            <a:r>
              <a:rPr lang="en-US" sz="4400" b="0" strike="noStrike" spc="-1">
                <a:latin typeface="Noto Sans CJK KR"/>
              </a:rPr>
              <a:t>.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ko-KR" sz="2000" b="0" strike="noStrike" spc="-1">
                <a:latin typeface="Noto Sans CJK KR"/>
              </a:rPr>
              <a:t>메모 서식을 편집하려면 클릭하십시오</a:t>
            </a:r>
            <a:r>
              <a:rPr lang="en-US" sz="2000" b="0" strike="noStrike" spc="-1">
                <a:latin typeface="Noto Sans CJK KR"/>
              </a:rPr>
              <a:t>.</a:t>
            </a:r>
          </a:p>
        </p:txBody>
      </p:sp>
      <p:sp>
        <p:nvSpPr>
          <p:cNvPr id="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Noto Serif CJK KR"/>
              </a:rPr>
              <a:t>&lt;머리글&gt;</a:t>
            </a:r>
          </a:p>
        </p:txBody>
      </p:sp>
      <p:sp>
        <p:nvSpPr>
          <p:cNvPr id="8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Noto Serif CJK KR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Noto Serif CJK KR"/>
              </a:rPr>
              <a:t>&lt;날짜/시간&gt;</a:t>
            </a:r>
          </a:p>
        </p:txBody>
      </p:sp>
      <p:sp>
        <p:nvSpPr>
          <p:cNvPr id="8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Noto Serif CJK KR"/>
              </a:defRPr>
            </a:lvl1pPr>
          </a:lstStyle>
          <a:p>
            <a:r>
              <a:rPr lang="en-US" sz="1400" b="0" strike="noStrike" spc="-1">
                <a:latin typeface="Noto Serif CJK KR"/>
              </a:rPr>
              <a:t>&lt;바닥글&gt;</a:t>
            </a:r>
          </a:p>
        </p:txBody>
      </p:sp>
      <p:sp>
        <p:nvSpPr>
          <p:cNvPr id="8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Noto Serif CJK KR"/>
              </a:defRPr>
            </a:lvl1pPr>
          </a:lstStyle>
          <a:p>
            <a:pPr algn="r">
              <a:buNone/>
            </a:pPr>
            <a:fld id="{2E630B39-53A3-4122-9FBF-5AD885CDEF51}" type="slidenum">
              <a:rPr lang="en-US" sz="1400" b="0" strike="noStrike" spc="-1">
                <a:latin typeface="Noto Serif CJK KR"/>
              </a:rPr>
              <a:t>‹#›</a:t>
            </a:fld>
            <a:endParaRPr lang="en-US" sz="1400" b="0" strike="noStrike" spc="-1">
              <a:latin typeface="Noto Serif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20688" y="1241425"/>
            <a:ext cx="5954712" cy="3349625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79680" y="4777200"/>
            <a:ext cx="543744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Noto Sans CJK KR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4"/>
          </p:nvPr>
        </p:nvSpPr>
        <p:spPr>
          <a:xfrm>
            <a:off x="3850560" y="9428760"/>
            <a:ext cx="2944800" cy="49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Calibri"/>
                <a:ea typeface="맑은 고딕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A225FB-1A1A-4F44-BE6F-4ADE915CDC38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맑은 고딕"/>
              </a:rPr>
              <a:t>1</a:t>
            </a:fld>
            <a:endParaRPr lang="en-US" sz="1200" b="0" strike="noStrike" spc="-1">
              <a:latin typeface="Noto Serif CJK KR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각 삼각형 7"/>
          <p:cNvSpPr/>
          <p:nvPr/>
        </p:nvSpPr>
        <p:spPr>
          <a:xfrm rot="5400000" flipH="1" flipV="1">
            <a:off x="11796840" y="6462000"/>
            <a:ext cx="334080" cy="45504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직각 삼각형 1"/>
          <p:cNvSpPr/>
          <p:nvPr/>
        </p:nvSpPr>
        <p:spPr>
          <a:xfrm rot="5400000" flipH="1" flipV="1">
            <a:off x="11796840" y="6462000"/>
            <a:ext cx="334080" cy="455040"/>
          </a:xfrm>
          <a:prstGeom prst="rtTriangle">
            <a:avLst/>
          </a:prstGeom>
          <a:solidFill>
            <a:srgbClr val="4455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ko-KR" sz="4400" b="0" strike="noStrike" spc="-1">
                <a:latin typeface="Noto Sans CJK KR"/>
              </a:rPr>
              <a:t>제목 텍스트의 서식을 편집하려면 클릭하십시오</a:t>
            </a:r>
            <a:r>
              <a:rPr lang="en-US" sz="4400" b="0" strike="noStrike" spc="-1">
                <a:latin typeface="Noto Sans CJK KR"/>
              </a:rPr>
              <a:t>.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latin typeface="Noto Sans CJK KR"/>
              </a:rPr>
              <a:t>개요 텍스트의 서식을 편집하려면 클릭하십시오</a:t>
            </a:r>
            <a:endParaRPr lang="en-US" sz="3200" b="0" strike="noStrike" spc="-1">
              <a:latin typeface="Noto Sans CJK KR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Noto Sans CJK KR"/>
              </a:rPr>
              <a:t>2</a:t>
            </a:r>
            <a:r>
              <a:rPr lang="ko-KR" sz="2800" b="0" strike="noStrike" spc="-1">
                <a:latin typeface="Noto Sans CJK KR"/>
              </a:rPr>
              <a:t>번째 개요 수준</a:t>
            </a:r>
            <a:endParaRPr lang="en-US" sz="2800" b="0" strike="noStrike" spc="-1">
              <a:latin typeface="Noto Sans CJK KR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Noto Sans CJK KR"/>
              </a:rPr>
              <a:t>3</a:t>
            </a:r>
            <a:r>
              <a:rPr lang="ko-KR" sz="2400" b="0" strike="noStrike" spc="-1">
                <a:latin typeface="Noto Sans CJK KR"/>
              </a:rPr>
              <a:t>번째 개요 수준</a:t>
            </a:r>
            <a:endParaRPr lang="en-US" sz="2400" b="0" strike="noStrike" spc="-1">
              <a:latin typeface="Noto Sans CJK KR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Noto Sans CJK KR"/>
              </a:rPr>
              <a:t>4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5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6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7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각 삼각형 7"/>
          <p:cNvSpPr/>
          <p:nvPr/>
        </p:nvSpPr>
        <p:spPr>
          <a:xfrm rot="5400000" flipH="1" flipV="1">
            <a:off x="11796840" y="6462000"/>
            <a:ext cx="334080" cy="45504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1" name="직각 삼각형 1"/>
          <p:cNvSpPr/>
          <p:nvPr/>
        </p:nvSpPr>
        <p:spPr>
          <a:xfrm rot="5400000" flipH="1" flipV="1">
            <a:off x="11796840" y="6462000"/>
            <a:ext cx="334080" cy="455040"/>
          </a:xfrm>
          <a:prstGeom prst="rtTriangle">
            <a:avLst/>
          </a:prstGeom>
          <a:solidFill>
            <a:srgbClr val="4455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ko-KR" sz="4400" b="0" strike="noStrike" spc="-1">
                <a:latin typeface="Noto Sans CJK KR"/>
              </a:rPr>
              <a:t>제목 텍스트의 서식을 편집하려면 클릭하십시오</a:t>
            </a:r>
            <a:r>
              <a:rPr lang="en-US" sz="4400" b="0" strike="noStrike" spc="-1">
                <a:latin typeface="Noto Sans CJK KR"/>
              </a:rPr>
              <a:t>.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latin typeface="Noto Sans CJK KR"/>
              </a:rPr>
              <a:t>개요 텍스트의 서식을 편집하려면 클릭하십시오</a:t>
            </a:r>
            <a:endParaRPr lang="en-US" sz="3200" b="0" strike="noStrike" spc="-1">
              <a:latin typeface="Noto Sans CJK KR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Noto Sans CJK KR"/>
              </a:rPr>
              <a:t>2</a:t>
            </a:r>
            <a:r>
              <a:rPr lang="ko-KR" sz="2800" b="0" strike="noStrike" spc="-1">
                <a:latin typeface="Noto Sans CJK KR"/>
              </a:rPr>
              <a:t>번째 개요 수준</a:t>
            </a:r>
            <a:endParaRPr lang="en-US" sz="2800" b="0" strike="noStrike" spc="-1">
              <a:latin typeface="Noto Sans CJK KR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Noto Sans CJK KR"/>
              </a:rPr>
              <a:t>3</a:t>
            </a:r>
            <a:r>
              <a:rPr lang="ko-KR" sz="2400" b="0" strike="noStrike" spc="-1">
                <a:latin typeface="Noto Sans CJK KR"/>
              </a:rPr>
              <a:t>번째 개요 수준</a:t>
            </a:r>
            <a:endParaRPr lang="en-US" sz="2400" b="0" strike="noStrike" spc="-1">
              <a:latin typeface="Noto Sans CJK KR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Noto Sans CJK KR"/>
              </a:rPr>
              <a:t>4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5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6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7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0"/>
          <p:cNvSpPr/>
          <p:nvPr/>
        </p:nvSpPr>
        <p:spPr>
          <a:xfrm>
            <a:off x="6708240" y="4149000"/>
            <a:ext cx="5157720" cy="4937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r">
              <a:lnSpc>
                <a:spcPct val="150000"/>
              </a:lnSpc>
              <a:tabLst>
                <a:tab pos="408240" algn="l"/>
              </a:tabLst>
            </a:pPr>
            <a:r>
              <a:rPr lang="ko-KR" sz="2400" b="1" strike="noStrike" spc="-1" dirty="0">
                <a:solidFill>
                  <a:srgbClr val="404040"/>
                </a:solidFill>
                <a:latin typeface="Noto Sans CJK KR"/>
                <a:ea typeface="DejaVu Sans"/>
              </a:rPr>
              <a:t>이름  </a:t>
            </a:r>
            <a:r>
              <a:rPr lang="en-US" sz="2400" b="1" strike="noStrike" spc="-1" dirty="0">
                <a:solidFill>
                  <a:srgbClr val="404040"/>
                </a:solidFill>
                <a:latin typeface="Noto Sans CJK KR"/>
                <a:ea typeface="DejaVu Sans"/>
              </a:rPr>
              <a:t>:  </a:t>
            </a:r>
            <a:r>
              <a:rPr lang="ko-KR" altLang="en-US" sz="2400" b="1" spc="-1" dirty="0">
                <a:solidFill>
                  <a:srgbClr val="404040"/>
                </a:solidFill>
                <a:latin typeface="Noto Sans CJK KR"/>
                <a:ea typeface="DejaVu Sans"/>
              </a:rPr>
              <a:t>문</a:t>
            </a:r>
            <a:r>
              <a:rPr lang="en-US" sz="2400" b="1" spc="-1" dirty="0">
                <a:solidFill>
                  <a:srgbClr val="404040"/>
                </a:solidFill>
                <a:latin typeface="Noto Sans CJK KR"/>
                <a:ea typeface="DejaVu Sans"/>
              </a:rPr>
              <a:t> </a:t>
            </a:r>
            <a:r>
              <a:rPr lang="ko-KR" altLang="en-US" sz="2400" b="1" spc="-1" dirty="0">
                <a:solidFill>
                  <a:srgbClr val="404040"/>
                </a:solidFill>
                <a:latin typeface="Noto Sans CJK KR"/>
                <a:ea typeface="DejaVu Sans"/>
              </a:rPr>
              <a:t>재</a:t>
            </a:r>
            <a:r>
              <a:rPr lang="en-US" sz="2400" b="1" spc="-1" dirty="0">
                <a:solidFill>
                  <a:srgbClr val="404040"/>
                </a:solidFill>
                <a:latin typeface="Noto Sans CJK KR"/>
                <a:ea typeface="DejaVu Sans"/>
              </a:rPr>
              <a:t> </a:t>
            </a:r>
            <a:r>
              <a:rPr lang="ko-KR" altLang="en-US" sz="2400" b="1" spc="-1" dirty="0">
                <a:solidFill>
                  <a:srgbClr val="404040"/>
                </a:solidFill>
                <a:latin typeface="Noto Sans CJK KR"/>
                <a:ea typeface="DejaVu Sans"/>
              </a:rPr>
              <a:t>민</a:t>
            </a:r>
            <a:endParaRPr lang="en-US" altLang="ko-KR" sz="2400" b="1" strike="noStrike" spc="-1" dirty="0">
              <a:solidFill>
                <a:srgbClr val="404040"/>
              </a:solidFill>
              <a:latin typeface="Noto Sans CJK KR"/>
            </a:endParaRPr>
          </a:p>
        </p:txBody>
      </p:sp>
      <p:sp>
        <p:nvSpPr>
          <p:cNvPr id="87" name="직사각형 1"/>
          <p:cNvSpPr/>
          <p:nvPr/>
        </p:nvSpPr>
        <p:spPr>
          <a:xfrm>
            <a:off x="0" y="1579680"/>
            <a:ext cx="12191400" cy="21902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6336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" name="TextBox 2"/>
          <p:cNvSpPr/>
          <p:nvPr/>
        </p:nvSpPr>
        <p:spPr>
          <a:xfrm>
            <a:off x="182880" y="1803600"/>
            <a:ext cx="26287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1600" b="1" strike="noStrike" spc="-1">
                <a:solidFill>
                  <a:srgbClr val="404040"/>
                </a:solidFill>
                <a:latin typeface="맑은 고딕"/>
                <a:ea typeface="맑은 고딕"/>
              </a:rPr>
              <a:t>NHN ACADEMY</a:t>
            </a:r>
            <a:endParaRPr lang="en-US" sz="1600" b="0" strike="noStrike" spc="-1">
              <a:latin typeface="Noto Sans CJK KR"/>
            </a:endParaRPr>
          </a:p>
        </p:txBody>
      </p:sp>
      <p:sp>
        <p:nvSpPr>
          <p:cNvPr id="89" name="Rectangle 2"/>
          <p:cNvSpPr/>
          <p:nvPr/>
        </p:nvSpPr>
        <p:spPr>
          <a:xfrm>
            <a:off x="0" y="0"/>
            <a:ext cx="121914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90" name="그림 15"/>
          <p:cNvPicPr/>
          <p:nvPr/>
        </p:nvPicPr>
        <p:blipFill>
          <a:blip r:embed="rId3"/>
          <a:stretch/>
        </p:blipFill>
        <p:spPr>
          <a:xfrm>
            <a:off x="14760" y="6348960"/>
            <a:ext cx="1482120" cy="385200"/>
          </a:xfrm>
          <a:prstGeom prst="rect">
            <a:avLst/>
          </a:prstGeom>
          <a:ln w="0">
            <a:noFill/>
          </a:ln>
        </p:spPr>
      </p:pic>
      <p:sp>
        <p:nvSpPr>
          <p:cNvPr id="91" name="Rectangle 10"/>
          <p:cNvSpPr/>
          <p:nvPr/>
        </p:nvSpPr>
        <p:spPr>
          <a:xfrm>
            <a:off x="10859040" y="-41040"/>
            <a:ext cx="885096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92" name="_x278651016" descr="EMB0000378c3f3d"/>
          <p:cNvPicPr/>
          <p:nvPr/>
        </p:nvPicPr>
        <p:blipFill>
          <a:blip r:embed="rId4"/>
          <a:stretch/>
        </p:blipFill>
        <p:spPr>
          <a:xfrm>
            <a:off x="1514520" y="6381360"/>
            <a:ext cx="1179360" cy="375120"/>
          </a:xfrm>
          <a:prstGeom prst="rect">
            <a:avLst/>
          </a:prstGeom>
          <a:ln w="0">
            <a:noFill/>
          </a:ln>
        </p:spPr>
      </p:pic>
      <p:sp>
        <p:nvSpPr>
          <p:cNvPr id="93" name="TextBox 14"/>
          <p:cNvSpPr/>
          <p:nvPr/>
        </p:nvSpPr>
        <p:spPr>
          <a:xfrm>
            <a:off x="5159880" y="2367360"/>
            <a:ext cx="6768000" cy="60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4000" b="1" strike="noStrike" spc="-1" dirty="0">
                <a:solidFill>
                  <a:srgbClr val="404040"/>
                </a:solidFill>
                <a:latin typeface="Noto Sans CJK KR"/>
                <a:ea typeface="DejaVu Sans"/>
              </a:rPr>
              <a:t>프로젝트 </a:t>
            </a:r>
            <a:r>
              <a:rPr lang="en-US" sz="4000" b="1" strike="noStrike" spc="-1" dirty="0">
                <a:solidFill>
                  <a:srgbClr val="404040"/>
                </a:solidFill>
                <a:latin typeface="Noto Sans CJK KR"/>
                <a:ea typeface="DejaVu Sans"/>
              </a:rPr>
              <a:t>: cannon ball</a:t>
            </a:r>
            <a:endParaRPr lang="en-US" sz="4000" b="0" strike="noStrike" spc="-1" dirty="0">
              <a:latin typeface="Noto Sans CJK KR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0" y="-1800"/>
            <a:ext cx="12191400" cy="337680"/>
          </a:xfrm>
          <a:prstGeom prst="rect">
            <a:avLst/>
          </a:prstGeom>
          <a:solidFill>
            <a:srgbClr val="F5DF4D"/>
          </a:solidFill>
          <a:ln w="0">
            <a:noFill/>
          </a:ln>
          <a:effectLst>
            <a:outerShdw blurRad="63360" algn="ctr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1600" b="0" strike="noStrike" spc="596">
                <a:solidFill>
                  <a:srgbClr val="181717"/>
                </a:solidFill>
                <a:latin typeface="Noto Sans CJK KR"/>
                <a:ea typeface="DejaVu Sans"/>
              </a:rPr>
              <a:t>K-Digital </a:t>
            </a:r>
            <a:r>
              <a:rPr lang="en-US" sz="1600" b="0" strike="noStrike" spc="596">
                <a:solidFill>
                  <a:srgbClr val="262626"/>
                </a:solidFill>
                <a:latin typeface="Noto Sans CJK KR"/>
                <a:ea typeface="DejaVu Sans"/>
              </a:rPr>
              <a:t>Training</a:t>
            </a:r>
            <a:endParaRPr lang="en-US" sz="1600" b="0" strike="noStrike" spc="-1">
              <a:latin typeface="Noto Sans CJK KR"/>
            </a:endParaRPr>
          </a:p>
        </p:txBody>
      </p:sp>
      <p:sp>
        <p:nvSpPr>
          <p:cNvPr id="95" name="직사각형 9"/>
          <p:cNvSpPr/>
          <p:nvPr/>
        </p:nvSpPr>
        <p:spPr>
          <a:xfrm>
            <a:off x="110160" y="1700640"/>
            <a:ext cx="11971080" cy="1943640"/>
          </a:xfrm>
          <a:prstGeom prst="rect">
            <a:avLst/>
          </a:prstGeom>
          <a:noFill/>
          <a:ln w="15875">
            <a:solidFill>
              <a:srgbClr val="939597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939597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그림 5"/>
          <p:cNvPicPr/>
          <p:nvPr/>
        </p:nvPicPr>
        <p:blipFill>
          <a:blip r:embed="rId2"/>
          <a:stretch/>
        </p:blipFill>
        <p:spPr>
          <a:xfrm flipH="1">
            <a:off x="5232600" y="0"/>
            <a:ext cx="395280" cy="6857280"/>
          </a:xfrm>
          <a:prstGeom prst="rect">
            <a:avLst/>
          </a:prstGeom>
          <a:ln w="0">
            <a:noFill/>
          </a:ln>
        </p:spPr>
      </p:pic>
      <p:sp>
        <p:nvSpPr>
          <p:cNvPr id="97" name="TextBox 16"/>
          <p:cNvSpPr/>
          <p:nvPr/>
        </p:nvSpPr>
        <p:spPr>
          <a:xfrm>
            <a:off x="6296400" y="1486080"/>
            <a:ext cx="3672360" cy="42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>
                <a:solidFill>
                  <a:srgbClr val="404040"/>
                </a:solidFill>
                <a:latin typeface="Noto Sans CJK KR"/>
                <a:ea typeface="DejaVu Sans"/>
              </a:rPr>
              <a:t>01. </a:t>
            </a:r>
            <a:r>
              <a:rPr lang="ko-KR" sz="2800" b="1" strike="noStrike" spc="-1">
                <a:solidFill>
                  <a:srgbClr val="404040"/>
                </a:solidFill>
                <a:latin typeface="Noto Sans CJK KR"/>
                <a:ea typeface="DejaVu Sans"/>
              </a:rPr>
              <a:t>프로젝트 개요</a:t>
            </a:r>
            <a:endParaRPr lang="en-US" sz="2800" b="0" strike="noStrike" spc="-1">
              <a:latin typeface="Noto Sans CJK KR"/>
            </a:endParaRPr>
          </a:p>
        </p:txBody>
      </p:sp>
      <p:sp>
        <p:nvSpPr>
          <p:cNvPr id="98" name="TextBox 18"/>
          <p:cNvSpPr/>
          <p:nvPr/>
        </p:nvSpPr>
        <p:spPr>
          <a:xfrm>
            <a:off x="6296400" y="2951121"/>
            <a:ext cx="529236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404040"/>
                </a:solidFill>
                <a:latin typeface="Noto Sans CJK KR"/>
                <a:ea typeface="DejaVu Sans"/>
              </a:rPr>
              <a:t>03. </a:t>
            </a:r>
            <a:r>
              <a:rPr lang="ko-KR" sz="2800" b="1" strike="noStrike" spc="-1" dirty="0">
                <a:solidFill>
                  <a:srgbClr val="404040"/>
                </a:solidFill>
                <a:latin typeface="Noto Sans CJK KR"/>
                <a:ea typeface="DejaVu Sans"/>
              </a:rPr>
              <a:t>프로젝트 수행 절차 및 방법</a:t>
            </a:r>
            <a:endParaRPr lang="en-US" sz="2800" b="0" strike="noStrike" spc="-1" dirty="0">
              <a:latin typeface="Noto Sans CJK KR"/>
            </a:endParaRPr>
          </a:p>
        </p:txBody>
      </p:sp>
      <p:sp>
        <p:nvSpPr>
          <p:cNvPr id="99" name="TextBox 19"/>
          <p:cNvSpPr/>
          <p:nvPr/>
        </p:nvSpPr>
        <p:spPr>
          <a:xfrm>
            <a:off x="6296400" y="3685785"/>
            <a:ext cx="447948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404040"/>
                </a:solidFill>
                <a:latin typeface="Noto Sans CJK KR"/>
                <a:ea typeface="DejaVu Sans"/>
              </a:rPr>
              <a:t>04. </a:t>
            </a:r>
            <a:r>
              <a:rPr lang="ko-KR" sz="2800" b="1" strike="noStrike" spc="-1" dirty="0">
                <a:solidFill>
                  <a:srgbClr val="404040"/>
                </a:solidFill>
                <a:latin typeface="Noto Sans CJK KR"/>
                <a:ea typeface="DejaVu Sans"/>
              </a:rPr>
              <a:t>프로젝트 수행 경과</a:t>
            </a:r>
            <a:endParaRPr lang="en-US" sz="2800" b="0" strike="noStrike" spc="-1" dirty="0">
              <a:latin typeface="Noto Sans CJK KR"/>
            </a:endParaRPr>
          </a:p>
        </p:txBody>
      </p:sp>
      <p:sp>
        <p:nvSpPr>
          <p:cNvPr id="100" name="TextBox 9"/>
          <p:cNvSpPr/>
          <p:nvPr/>
        </p:nvSpPr>
        <p:spPr>
          <a:xfrm>
            <a:off x="6296400" y="4420450"/>
            <a:ext cx="320436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404040"/>
                </a:solidFill>
                <a:latin typeface="Noto Sans CJK KR"/>
                <a:ea typeface="DejaVu Sans"/>
              </a:rPr>
              <a:t>05. </a:t>
            </a:r>
            <a:r>
              <a:rPr lang="ko-KR" sz="2800" b="1" strike="noStrike" spc="-1" dirty="0">
                <a:solidFill>
                  <a:srgbClr val="404040"/>
                </a:solidFill>
                <a:latin typeface="Noto Sans CJK KR"/>
                <a:ea typeface="DejaVu Sans"/>
              </a:rPr>
              <a:t>자체 평가 의견</a:t>
            </a:r>
            <a:endParaRPr lang="en-US" sz="2800" b="0" strike="noStrike" spc="-1" dirty="0">
              <a:latin typeface="Noto Sans CJK KR"/>
            </a:endParaRPr>
          </a:p>
        </p:txBody>
      </p:sp>
      <p:sp>
        <p:nvSpPr>
          <p:cNvPr id="101" name="직사각형 3"/>
          <p:cNvSpPr/>
          <p:nvPr/>
        </p:nvSpPr>
        <p:spPr>
          <a:xfrm>
            <a:off x="0" y="0"/>
            <a:ext cx="5231160" cy="6857280"/>
          </a:xfrm>
          <a:prstGeom prst="rect">
            <a:avLst/>
          </a:prstGeom>
          <a:solidFill>
            <a:srgbClr val="F5DF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4000" b="0" strike="noStrike" spc="-1" dirty="0">
                <a:solidFill>
                  <a:srgbClr val="404040"/>
                </a:solidFill>
                <a:latin typeface="휴먼둥근헤드라인"/>
                <a:ea typeface="휴먼둥근헤드라인"/>
              </a:rPr>
              <a:t>목차</a:t>
            </a:r>
            <a:endParaRPr lang="en-US" sz="4000" b="0" strike="noStrike" spc="-1" dirty="0">
              <a:latin typeface="Noto Sans CJK KR"/>
            </a:endParaRP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78089E73-3703-0E60-768B-0A16B006FFF6}"/>
              </a:ext>
            </a:extLst>
          </p:cNvPr>
          <p:cNvSpPr/>
          <p:nvPr/>
        </p:nvSpPr>
        <p:spPr>
          <a:xfrm>
            <a:off x="6296400" y="2216457"/>
            <a:ext cx="5292360" cy="430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404040"/>
                </a:solidFill>
                <a:latin typeface="Noto Sans CJK KR"/>
                <a:ea typeface="DejaVu Sans"/>
              </a:rPr>
              <a:t>02. </a:t>
            </a:r>
            <a:r>
              <a:rPr lang="ko-KR" sz="2800" b="1" strike="noStrike" spc="-1" dirty="0">
                <a:solidFill>
                  <a:srgbClr val="404040"/>
                </a:solidFill>
                <a:latin typeface="Noto Sans CJK KR"/>
                <a:ea typeface="DejaVu Sans"/>
              </a:rPr>
              <a:t>프로젝트 </a:t>
            </a:r>
            <a:r>
              <a:rPr lang="ko-KR" altLang="en-US" sz="2800" b="1" strike="noStrike" spc="-1" dirty="0">
                <a:solidFill>
                  <a:srgbClr val="404040"/>
                </a:solidFill>
                <a:latin typeface="Noto Sans CJK KR"/>
                <a:ea typeface="DejaVu Sans"/>
              </a:rPr>
              <a:t>구성 및 역할</a:t>
            </a:r>
            <a:endParaRPr lang="en-US" sz="2800" b="0" strike="noStrike" spc="-1" dirty="0">
              <a:latin typeface="Noto Sans CJK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7"/>
          <p:cNvSpPr/>
          <p:nvPr/>
        </p:nvSpPr>
        <p:spPr>
          <a:xfrm>
            <a:off x="152773" y="225268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ko-KR" altLang="en-US" dirty="0"/>
          </a:p>
        </p:txBody>
      </p:sp>
      <p:sp>
        <p:nvSpPr>
          <p:cNvPr id="104" name="TextBox 3"/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01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09" name="직사각형 15"/>
          <p:cNvSpPr/>
          <p:nvPr/>
        </p:nvSpPr>
        <p:spPr>
          <a:xfrm>
            <a:off x="1415880" y="1883758"/>
            <a:ext cx="6227640" cy="952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tabLst>
                <a:tab pos="408240" algn="l"/>
              </a:tabLst>
            </a:pPr>
            <a:r>
              <a:rPr lang="en-US" sz="1300" strike="noStrike" spc="-151" dirty="0">
                <a:latin typeface="맑은 고딕"/>
                <a:ea typeface="맑은 고딕"/>
              </a:rPr>
              <a:t>◎  </a:t>
            </a:r>
            <a:r>
              <a:rPr lang="ko-KR" altLang="en-US" sz="1300" spc="-151" dirty="0">
                <a:latin typeface="맑은 고딕"/>
                <a:ea typeface="맑은 고딕"/>
              </a:rPr>
              <a:t>앞서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ko-KR" altLang="en-US" sz="1300" spc="-151" dirty="0">
                <a:latin typeface="맑은 고딕"/>
                <a:ea typeface="맑은 고딕"/>
              </a:rPr>
              <a:t>배웠던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ko-KR" altLang="en-US" sz="1300" spc="-151" dirty="0">
                <a:latin typeface="맑은 고딕"/>
                <a:ea typeface="맑은 고딕"/>
              </a:rPr>
              <a:t>내용들을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ko-KR" altLang="en-US" sz="1300" spc="-151" dirty="0">
                <a:latin typeface="맑은 고딕"/>
                <a:ea typeface="맑은 고딕"/>
              </a:rPr>
              <a:t>토대로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en-US" sz="1300" spc="-151" err="1">
                <a:latin typeface="맑은 고딕"/>
                <a:ea typeface="맑은 고딕"/>
              </a:rPr>
              <a:t>자바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en-US" sz="1300" spc="-151" err="1">
                <a:latin typeface="맑은 고딕"/>
                <a:ea typeface="맑은 고딕"/>
              </a:rPr>
              <a:t>데이터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ko-KR" altLang="en-US" sz="1300" spc="-151" dirty="0">
                <a:latin typeface="맑은 고딕"/>
                <a:ea typeface="맑은 고딕"/>
              </a:rPr>
              <a:t>구조를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en-US" sz="1300" spc="-151" err="1">
                <a:latin typeface="맑은 고딕"/>
                <a:ea typeface="맑은 고딕"/>
              </a:rPr>
              <a:t>활용하여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ko-KR" altLang="en-US" sz="1300" spc="-151" err="1">
                <a:latin typeface="맑은 고딕"/>
                <a:ea typeface="맑은 고딕"/>
              </a:rPr>
              <a:t>벽돌깨기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ko-KR" altLang="en-US" sz="1300" spc="-151">
                <a:latin typeface="맑은 고딕"/>
                <a:ea typeface="맑은 고딕"/>
              </a:rPr>
              <a:t>게임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ko-KR" altLang="en-US" sz="1300" spc="-151">
                <a:latin typeface="맑은 고딕"/>
                <a:ea typeface="맑은 고딕"/>
              </a:rPr>
              <a:t>프로그램</a:t>
            </a:r>
            <a:r>
              <a:rPr lang="en-US" altLang="ko-KR" sz="1300" spc="-151" dirty="0">
                <a:latin typeface="맑은 고딕"/>
                <a:ea typeface="맑은 고딕"/>
              </a:rPr>
              <a:t> </a:t>
            </a:r>
            <a:r>
              <a:rPr lang="ko-KR" altLang="en-US" sz="1300" spc="-151" dirty="0">
                <a:latin typeface="맑은 고딕"/>
                <a:ea typeface="맑은 고딕"/>
              </a:rPr>
              <a:t>제작</a:t>
            </a:r>
            <a:r>
              <a:rPr lang="en-US" altLang="ko-KR" sz="1300" spc="-151" dirty="0">
                <a:latin typeface="맑은 고딕"/>
                <a:ea typeface="맑은 고딕"/>
              </a:rPr>
              <a:t>.</a:t>
            </a:r>
            <a:endParaRPr lang="ko-KR" altLang="en-US" sz="1300" strike="noStrike" spc="-15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tabLst>
                <a:tab pos="408240" algn="l"/>
              </a:tabLst>
            </a:pPr>
            <a:r>
              <a:rPr lang="en-US" altLang="ko-KR" sz="1300" strike="noStrike" spc="-151" dirty="0">
                <a:latin typeface="맑은 고딕"/>
                <a:ea typeface="맑은 고딕"/>
              </a:rPr>
              <a:t>◎ </a:t>
            </a:r>
            <a:r>
              <a:rPr lang="en-US" altLang="ko-KR" sz="1300" spc="-151" dirty="0">
                <a:latin typeface="맑은 고딕"/>
                <a:ea typeface="맑은 고딕"/>
              </a:rPr>
              <a:t> 자바 기초 문법, 객체의 상속, 인터페이스 활용 방법을 숙달하고, 수학적 로직을 통한,</a:t>
            </a:r>
            <a:br>
              <a:rPr lang="en-US" altLang="ko-KR" sz="1300" spc="-151" dirty="0">
                <a:latin typeface="맑은 고딕"/>
                <a:ea typeface="맑은 고딕"/>
              </a:rPr>
            </a:br>
            <a:r>
              <a:rPr lang="en-US" altLang="ko-KR" sz="1300" spc="-151">
                <a:latin typeface="맑은 고딕"/>
                <a:ea typeface="맑은 고딕"/>
              </a:rPr>
              <a:t>물체의 움직임과 충돌 감지를 직접 구현하는 데 목적을 둠 </a:t>
            </a:r>
            <a:endParaRPr lang="ko-KR" altLang="en-US" sz="1300" strike="noStrike" spc="-150">
              <a:latin typeface="맑은 고딕"/>
              <a:ea typeface="맑은 고딕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44FCD08-C759-FCE3-289B-3EB7436809CF}"/>
              </a:ext>
            </a:extLst>
          </p:cNvPr>
          <p:cNvGrpSpPr/>
          <p:nvPr/>
        </p:nvGrpSpPr>
        <p:grpSpPr>
          <a:xfrm>
            <a:off x="1005480" y="1546500"/>
            <a:ext cx="5305680" cy="337100"/>
            <a:chOff x="1005480" y="1673500"/>
            <a:chExt cx="5305680" cy="337100"/>
          </a:xfrm>
        </p:grpSpPr>
        <p:sp>
          <p:nvSpPr>
            <p:cNvPr id="108" name="직사각형 4"/>
            <p:cNvSpPr/>
            <p:nvPr/>
          </p:nvSpPr>
          <p:spPr>
            <a:xfrm>
              <a:off x="1271880" y="1673500"/>
              <a:ext cx="5039280" cy="3371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  <a:tabLst>
                  <a:tab pos="408240" algn="l"/>
                </a:tabLst>
              </a:pPr>
              <a:r>
                <a:rPr lang="ko-KR" sz="1600" b="1" strike="noStrike" spc="-151" dirty="0">
                  <a:solidFill>
                    <a:srgbClr val="3B383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sz="1600" b="1" strike="noStrike" spc="-151" dirty="0">
                  <a:solidFill>
                    <a:srgbClr val="3B383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sz="1600" b="1" strike="noStrike" spc="-151" dirty="0">
                  <a:solidFill>
                    <a:srgbClr val="3B383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 의도</a:t>
              </a:r>
              <a:endParaRPr lang="en-US" sz="1600" b="0" strike="noStrike" spc="-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0" name="직사각형 1"/>
            <p:cNvSpPr/>
            <p:nvPr/>
          </p:nvSpPr>
          <p:spPr>
            <a:xfrm>
              <a:off x="1005480" y="1738300"/>
              <a:ext cx="265680" cy="265680"/>
            </a:xfrm>
            <a:prstGeom prst="rect">
              <a:avLst/>
            </a:prstGeom>
            <a:solidFill>
              <a:srgbClr val="FE431E"/>
            </a:solidFill>
            <a:ln>
              <a:solidFill>
                <a:srgbClr val="BB31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buNone/>
                <a:tabLst>
                  <a:tab pos="408240" algn="l"/>
                </a:tabLst>
              </a:pPr>
              <a:r>
                <a:rPr lang="en-US" sz="1800" b="0" strike="noStrike" spc="-1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en-US" sz="1800" b="0" strike="noStrike" spc="-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13" name="직사각형 2"/>
          <p:cNvSpPr/>
          <p:nvPr/>
        </p:nvSpPr>
        <p:spPr>
          <a:xfrm>
            <a:off x="8420100" y="4134420"/>
            <a:ext cx="28918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tabLst>
                <a:tab pos="408240" algn="l"/>
              </a:tabLst>
            </a:pPr>
            <a:r>
              <a:rPr lang="en-US" sz="1400" b="1" spc="-151" dirty="0">
                <a:latin typeface="맑은 고딕"/>
                <a:ea typeface="맑은 고딕"/>
              </a:rPr>
              <a:t>&lt;</a:t>
            </a:r>
            <a:r>
              <a:rPr lang="ko-KR" altLang="en-US" sz="1400" b="1" spc="-151" dirty="0">
                <a:latin typeface="맑은 고딕"/>
                <a:ea typeface="맑은 고딕"/>
              </a:rPr>
              <a:t>벽돌</a:t>
            </a:r>
            <a:r>
              <a:rPr lang="en-US" sz="1400" b="1" spc="-151" dirty="0">
                <a:latin typeface="맑은 고딕"/>
                <a:ea typeface="맑은 고딕"/>
              </a:rPr>
              <a:t> </a:t>
            </a:r>
            <a:r>
              <a:rPr lang="ko-KR" altLang="en-US" sz="1400" b="1" spc="-151" dirty="0">
                <a:latin typeface="맑은 고딕"/>
                <a:ea typeface="맑은 고딕"/>
              </a:rPr>
              <a:t>깨기</a:t>
            </a:r>
            <a:r>
              <a:rPr lang="en-US" sz="1400" b="1" spc="-151" dirty="0">
                <a:latin typeface="맑은 고딕"/>
                <a:ea typeface="맑은 고딕"/>
              </a:rPr>
              <a:t> </a:t>
            </a:r>
            <a:r>
              <a:rPr lang="ko-KR" altLang="en-US" sz="1400" b="1" spc="-151">
                <a:latin typeface="맑은 고딕"/>
                <a:ea typeface="맑은 고딕"/>
              </a:rPr>
              <a:t>게임</a:t>
            </a:r>
            <a:r>
              <a:rPr lang="en-US" sz="1400" b="1" spc="-151">
                <a:latin typeface="맑은 고딕"/>
                <a:ea typeface="맑은 고딕"/>
              </a:rPr>
              <a:t>&gt;</a:t>
            </a:r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B5BC260-930B-27CD-7D9B-C8F505B6ED1C}"/>
              </a:ext>
            </a:extLst>
          </p:cNvPr>
          <p:cNvGrpSpPr/>
          <p:nvPr/>
        </p:nvGrpSpPr>
        <p:grpSpPr>
          <a:xfrm>
            <a:off x="1005480" y="2920748"/>
            <a:ext cx="5305680" cy="337100"/>
            <a:chOff x="1005480" y="2920748"/>
            <a:chExt cx="5305680" cy="337100"/>
          </a:xfrm>
        </p:grpSpPr>
        <p:sp>
          <p:nvSpPr>
            <p:cNvPr id="2" name="직사각형 4">
              <a:extLst>
                <a:ext uri="{FF2B5EF4-FFF2-40B4-BE49-F238E27FC236}">
                  <a16:creationId xmlns:a16="http://schemas.microsoft.com/office/drawing/2014/main" id="{E0E8EF7D-31ED-4CD8-B4AE-6D4D412EF999}"/>
                </a:ext>
              </a:extLst>
            </p:cNvPr>
            <p:cNvSpPr/>
            <p:nvPr/>
          </p:nvSpPr>
          <p:spPr>
            <a:xfrm>
              <a:off x="1271880" y="2920748"/>
              <a:ext cx="5039280" cy="3371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  <a:tabLst>
                  <a:tab pos="408240" algn="l"/>
                </a:tabLst>
              </a:pPr>
              <a:r>
                <a:rPr lang="ko-KR" sz="1600" b="1" strike="noStrike" spc="-151" dirty="0">
                  <a:solidFill>
                    <a:srgbClr val="3B383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</a:t>
              </a:r>
              <a:r>
                <a:rPr lang="ko-KR" altLang="en-US" sz="1600" b="1" strike="noStrike" spc="-151" dirty="0">
                  <a:solidFill>
                    <a:srgbClr val="3B383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내용</a:t>
              </a:r>
              <a:endParaRPr lang="en-US" sz="1600" b="0" strike="noStrike" spc="-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" name="직사각형 1">
              <a:extLst>
                <a:ext uri="{FF2B5EF4-FFF2-40B4-BE49-F238E27FC236}">
                  <a16:creationId xmlns:a16="http://schemas.microsoft.com/office/drawing/2014/main" id="{5F1AFC4F-7DF7-B1CB-E040-F29DF7536F7D}"/>
                </a:ext>
              </a:extLst>
            </p:cNvPr>
            <p:cNvSpPr/>
            <p:nvPr/>
          </p:nvSpPr>
          <p:spPr>
            <a:xfrm>
              <a:off x="1005480" y="2985548"/>
              <a:ext cx="265680" cy="265680"/>
            </a:xfrm>
            <a:prstGeom prst="rect">
              <a:avLst/>
            </a:prstGeom>
            <a:solidFill>
              <a:srgbClr val="FE431E"/>
            </a:solidFill>
            <a:ln>
              <a:solidFill>
                <a:srgbClr val="BB31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buNone/>
                <a:tabLst>
                  <a:tab pos="408240" algn="l"/>
                </a:tabLst>
              </a:pPr>
              <a:r>
                <a:rPr lang="en-US" spc="-1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en-US" sz="1800" b="0" strike="noStrike" spc="-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" name="직사각형 15">
            <a:extLst>
              <a:ext uri="{FF2B5EF4-FFF2-40B4-BE49-F238E27FC236}">
                <a16:creationId xmlns:a16="http://schemas.microsoft.com/office/drawing/2014/main" id="{9AD7127B-04FE-15EA-62CA-866C4FE91998}"/>
              </a:ext>
            </a:extLst>
          </p:cNvPr>
          <p:cNvSpPr/>
          <p:nvPr/>
        </p:nvSpPr>
        <p:spPr>
          <a:xfrm>
            <a:off x="1415880" y="3214424"/>
            <a:ext cx="6227640" cy="6523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latin typeface="Noto Sans CJK KR"/>
                <a:ea typeface="Noto Sans CJK KR"/>
                <a:cs typeface="Lohit Devanagari"/>
                <a:sym typeface="Arial"/>
              </a:defRPr>
            </a:pPr>
            <a:r>
              <a:rPr lang="en-US" sz="1300" strike="noStrike" spc="-151" dirty="0">
                <a:latin typeface="맑은 고딕"/>
                <a:ea typeface="맑은 고딕"/>
              </a:rPr>
              <a:t>◎  </a:t>
            </a:r>
            <a:r>
              <a:rPr lang="ko-KR" altLang="en-US" sz="1300" spc="-150" dirty="0">
                <a:solidFill>
                  <a:srgbClr val="3B3838"/>
                </a:solidFill>
                <a:latin typeface="맑은 고딕"/>
                <a:ea typeface="맑은 고딕"/>
              </a:rPr>
              <a:t>자바 인터페이스를 이용하여 Balll, Paddle, Bricks 등의 핵심 클래스를 설계하고, NHN-Academy</a:t>
            </a:r>
            <a:r>
              <a:rPr lang="ko-KR" altLang="en-US" sz="1300" spc="-150">
                <a:solidFill>
                  <a:srgbClr val="3B3838"/>
                </a:solidFill>
                <a:latin typeface="맑은 고딕"/>
                <a:ea typeface="맑은 고딕"/>
              </a:rPr>
              <a:t>에서 학습한 객체지향 설계 원칙을 준수하여 제작함.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3382CF7-29C0-50B4-8FFE-D2EA9C9BC994}"/>
              </a:ext>
            </a:extLst>
          </p:cNvPr>
          <p:cNvGrpSpPr/>
          <p:nvPr/>
        </p:nvGrpSpPr>
        <p:grpSpPr>
          <a:xfrm>
            <a:off x="1005480" y="4100603"/>
            <a:ext cx="5305680" cy="337100"/>
            <a:chOff x="1005480" y="4100603"/>
            <a:chExt cx="5305680" cy="3371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CADA170-01F7-A2D5-431C-38025A64828E}"/>
                </a:ext>
              </a:extLst>
            </p:cNvPr>
            <p:cNvSpPr/>
            <p:nvPr/>
          </p:nvSpPr>
          <p:spPr>
            <a:xfrm>
              <a:off x="1271880" y="4100603"/>
              <a:ext cx="5039280" cy="3371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  <a:tabLst>
                  <a:tab pos="408240" algn="l"/>
                </a:tabLst>
              </a:pPr>
              <a:r>
                <a:rPr lang="ko-KR" altLang="en-US" sz="1600" b="1" spc="-151" dirty="0">
                  <a:solidFill>
                    <a:srgbClr val="3B383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 장비 및 재료</a:t>
              </a:r>
              <a:endParaRPr lang="en-US" sz="1600" b="0" strike="noStrike" spc="-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" name="직사각형 1">
              <a:extLst>
                <a:ext uri="{FF2B5EF4-FFF2-40B4-BE49-F238E27FC236}">
                  <a16:creationId xmlns:a16="http://schemas.microsoft.com/office/drawing/2014/main" id="{0F861AAF-EB8E-33E5-9BCE-2ECDF0703B58}"/>
                </a:ext>
              </a:extLst>
            </p:cNvPr>
            <p:cNvSpPr/>
            <p:nvPr/>
          </p:nvSpPr>
          <p:spPr>
            <a:xfrm>
              <a:off x="1005480" y="4165403"/>
              <a:ext cx="265680" cy="265680"/>
            </a:xfrm>
            <a:prstGeom prst="rect">
              <a:avLst/>
            </a:prstGeom>
            <a:solidFill>
              <a:srgbClr val="FE431E"/>
            </a:solidFill>
            <a:ln>
              <a:solidFill>
                <a:srgbClr val="BB31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buNone/>
                <a:tabLst>
                  <a:tab pos="408240" algn="l"/>
                </a:tabLst>
              </a:pPr>
              <a:r>
                <a:rPr lang="en-US" sz="1800" b="0" strike="noStrike" spc="-1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en-US" sz="1800" b="0" strike="noStrike" spc="-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" name="직사각형 15">
            <a:extLst>
              <a:ext uri="{FF2B5EF4-FFF2-40B4-BE49-F238E27FC236}">
                <a16:creationId xmlns:a16="http://schemas.microsoft.com/office/drawing/2014/main" id="{F59C00B7-4938-063A-0D73-BE91C7D24C45}"/>
              </a:ext>
            </a:extLst>
          </p:cNvPr>
          <p:cNvSpPr/>
          <p:nvPr/>
        </p:nvSpPr>
        <p:spPr>
          <a:xfrm>
            <a:off x="1415880" y="4445079"/>
            <a:ext cx="622764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defRPr sz="1800">
                <a:latin typeface="Noto Sans CJK KR"/>
                <a:ea typeface="Noto Sans CJK KR"/>
                <a:cs typeface="Lohit Devanagari"/>
                <a:sym typeface="Arial"/>
              </a:defRPr>
            </a:pPr>
            <a:r>
              <a:rPr lang="en-US" sz="1300" strike="noStrike" spc="-151">
                <a:latin typeface="맑은 고딕"/>
                <a:ea typeface="맑은 고딕"/>
              </a:rPr>
              <a:t>◎ </a:t>
            </a:r>
            <a:r>
              <a:rPr lang="en-US" sz="1300" spc="-151">
                <a:latin typeface="맑은 고딕"/>
                <a:ea typeface="맑은 고딕"/>
              </a:rPr>
              <a:t> java21 / maven / javaFx (</a:t>
            </a:r>
            <a:r>
              <a:rPr lang="en-US" altLang="ko-KR" sz="1300" spc="-151">
                <a:latin typeface="맑은 고딕"/>
                <a:ea typeface="맑은 고딕"/>
              </a:rPr>
              <a:t>gui 구현 및 애니메이션 프레임 관리</a:t>
            </a:r>
            <a:r>
              <a:rPr lang="en-US" sz="1300" spc="-151" dirty="0">
                <a:latin typeface="맑은 고딕"/>
                <a:ea typeface="맑은 고딕"/>
              </a:rPr>
              <a:t>)</a:t>
            </a:r>
            <a:endParaRPr lang="en-US" altLang="ko-KR" sz="1300" spc="-151" dirty="0">
              <a:latin typeface="맑은 고딕"/>
              <a:ea typeface="맑은 고딕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734F75B-8EDD-FAFB-63D9-5F36FFD5EB69}"/>
              </a:ext>
            </a:extLst>
          </p:cNvPr>
          <p:cNvGrpSpPr/>
          <p:nvPr/>
        </p:nvGrpSpPr>
        <p:grpSpPr>
          <a:xfrm>
            <a:off x="1005480" y="4969813"/>
            <a:ext cx="5305680" cy="337100"/>
            <a:chOff x="1005480" y="4969813"/>
            <a:chExt cx="5305680" cy="3371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1874000-D5CC-AD47-E5DE-80F667E8F240}"/>
                </a:ext>
              </a:extLst>
            </p:cNvPr>
            <p:cNvSpPr/>
            <p:nvPr/>
          </p:nvSpPr>
          <p:spPr>
            <a:xfrm>
              <a:off x="1271880" y="4969813"/>
              <a:ext cx="5039280" cy="3371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  <a:tabLst>
                  <a:tab pos="408240" algn="l"/>
                </a:tabLst>
              </a:pPr>
              <a:r>
                <a:rPr lang="ko-KR" altLang="en-US" sz="1600" b="1" strike="noStrike" spc="-151" dirty="0">
                  <a:solidFill>
                    <a:srgbClr val="3B383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구조</a:t>
              </a:r>
              <a:endParaRPr lang="en-US" sz="1600" b="0" strike="noStrike" spc="-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직사각형 1">
              <a:extLst>
                <a:ext uri="{FF2B5EF4-FFF2-40B4-BE49-F238E27FC236}">
                  <a16:creationId xmlns:a16="http://schemas.microsoft.com/office/drawing/2014/main" id="{E3562E40-F279-A9FD-0675-02CE0F373CEF}"/>
                </a:ext>
              </a:extLst>
            </p:cNvPr>
            <p:cNvSpPr/>
            <p:nvPr/>
          </p:nvSpPr>
          <p:spPr>
            <a:xfrm>
              <a:off x="1005480" y="5034613"/>
              <a:ext cx="265680" cy="265680"/>
            </a:xfrm>
            <a:prstGeom prst="rect">
              <a:avLst/>
            </a:prstGeom>
            <a:solidFill>
              <a:srgbClr val="FE431E"/>
            </a:solidFill>
            <a:ln>
              <a:solidFill>
                <a:srgbClr val="BB31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buNone/>
                <a:tabLst>
                  <a:tab pos="408240" algn="l"/>
                </a:tabLst>
              </a:pPr>
              <a:r>
                <a:rPr lang="en-US" sz="1800" b="0" strike="noStrike" spc="-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</a:t>
              </a:r>
            </a:p>
          </p:txBody>
        </p:sp>
      </p:grpSp>
      <p:sp>
        <p:nvSpPr>
          <p:cNvPr id="10" name="직사각형 15">
            <a:extLst>
              <a:ext uri="{FF2B5EF4-FFF2-40B4-BE49-F238E27FC236}">
                <a16:creationId xmlns:a16="http://schemas.microsoft.com/office/drawing/2014/main" id="{641FF0AC-1F3C-2501-E947-89D916C4BE91}"/>
              </a:ext>
            </a:extLst>
          </p:cNvPr>
          <p:cNvSpPr/>
          <p:nvPr/>
        </p:nvSpPr>
        <p:spPr>
          <a:xfrm>
            <a:off x="1415880" y="5307939"/>
            <a:ext cx="622764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defRPr sz="1800">
                <a:latin typeface="Noto Sans CJK KR"/>
                <a:ea typeface="Noto Sans CJK KR"/>
                <a:cs typeface="Lohit Devanagari"/>
                <a:sym typeface="Arial"/>
              </a:defRPr>
            </a:pPr>
            <a:r>
              <a:rPr lang="en-US" sz="1300" strike="noStrike" spc="-151" dirty="0">
                <a:latin typeface="맑은 고딕"/>
                <a:ea typeface="맑은 고딕"/>
              </a:rPr>
              <a:t>◎  </a:t>
            </a:r>
            <a:r>
              <a:rPr lang="ko-KR" altLang="ko-KR" sz="1300" spc="-151">
                <a:latin typeface="맑은 고딕"/>
                <a:ea typeface="맑은 고딕"/>
              </a:rPr>
              <a:t>크게 BreakoutGame(Main), Ball(class), Paddle(조작), Bricks(타겟)</a:t>
            </a:r>
            <a:endParaRPr lang="en-US" altLang="ko-KR" sz="1300" spc="-15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07834A8-20DD-A2A5-1AE2-E2F99FA4EE69}"/>
              </a:ext>
            </a:extLst>
          </p:cNvPr>
          <p:cNvGrpSpPr/>
          <p:nvPr/>
        </p:nvGrpSpPr>
        <p:grpSpPr>
          <a:xfrm>
            <a:off x="1005480" y="5832672"/>
            <a:ext cx="5305680" cy="337100"/>
            <a:chOff x="1005480" y="5832672"/>
            <a:chExt cx="5305680" cy="3371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4749F48-3CA2-DB99-2621-B639A7F967A0}"/>
                </a:ext>
              </a:extLst>
            </p:cNvPr>
            <p:cNvSpPr/>
            <p:nvPr/>
          </p:nvSpPr>
          <p:spPr>
            <a:xfrm>
              <a:off x="1271880" y="5832672"/>
              <a:ext cx="5039280" cy="3371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  <a:tabLst>
                  <a:tab pos="408240" algn="l"/>
                </a:tabLst>
              </a:pPr>
              <a:r>
                <a:rPr lang="ko-KR" altLang="en-US" sz="1600" b="1" strike="noStrike" spc="-151" dirty="0">
                  <a:solidFill>
                    <a:srgbClr val="3B383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활용방안 및 기대효과</a:t>
              </a:r>
              <a:endParaRPr lang="en-US" sz="1600" b="0" strike="noStrike" spc="-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직사각형 1">
              <a:extLst>
                <a:ext uri="{FF2B5EF4-FFF2-40B4-BE49-F238E27FC236}">
                  <a16:creationId xmlns:a16="http://schemas.microsoft.com/office/drawing/2014/main" id="{212D4697-1858-ACF7-6C73-3036D214C2DA}"/>
                </a:ext>
              </a:extLst>
            </p:cNvPr>
            <p:cNvSpPr/>
            <p:nvPr/>
          </p:nvSpPr>
          <p:spPr>
            <a:xfrm>
              <a:off x="1005480" y="5897472"/>
              <a:ext cx="265680" cy="265680"/>
            </a:xfrm>
            <a:prstGeom prst="rect">
              <a:avLst/>
            </a:prstGeom>
            <a:solidFill>
              <a:srgbClr val="FE431E"/>
            </a:solidFill>
            <a:ln>
              <a:solidFill>
                <a:srgbClr val="BB31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buNone/>
                <a:tabLst>
                  <a:tab pos="408240" algn="l"/>
                </a:tabLst>
              </a:pPr>
              <a:r>
                <a:rPr lang="en-US" spc="-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endParaRPr lang="en-US" sz="1800" b="0" strike="noStrike" spc="-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3" name="직사각형 15">
            <a:extLst>
              <a:ext uri="{FF2B5EF4-FFF2-40B4-BE49-F238E27FC236}">
                <a16:creationId xmlns:a16="http://schemas.microsoft.com/office/drawing/2014/main" id="{4227B088-4154-58FE-603F-ED872DCDA8D9}"/>
              </a:ext>
            </a:extLst>
          </p:cNvPr>
          <p:cNvSpPr/>
          <p:nvPr/>
        </p:nvSpPr>
        <p:spPr>
          <a:xfrm>
            <a:off x="1415880" y="6202548"/>
            <a:ext cx="815992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defRPr sz="1800">
                <a:latin typeface="Noto Sans CJK KR"/>
                <a:ea typeface="Noto Sans CJK KR"/>
                <a:cs typeface="Lohit Devanagari"/>
                <a:sym typeface="Arial"/>
              </a:defRPr>
            </a:pPr>
            <a:r>
              <a:rPr lang="en-US" sz="1300" strike="noStrike" spc="-151" dirty="0">
                <a:latin typeface="맑은 고딕"/>
                <a:ea typeface="맑은 고딕"/>
              </a:rPr>
              <a:t>◎  </a:t>
            </a:r>
            <a:r>
              <a:rPr lang="ko-KR" altLang="en-US" sz="1300" spc="-151" dirty="0">
                <a:latin typeface="맑은 고딕"/>
                <a:ea typeface="맑은 고딕"/>
              </a:rPr>
              <a:t>프로젝트를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ko-KR" altLang="en-US" sz="1300" spc="-151" dirty="0">
                <a:latin typeface="맑은 고딕"/>
                <a:ea typeface="맑은 고딕"/>
              </a:rPr>
              <a:t>통해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ko-KR" altLang="en-US" sz="1300" spc="-151" dirty="0">
                <a:latin typeface="맑은 고딕"/>
                <a:ea typeface="맑은 고딕"/>
              </a:rPr>
              <a:t>자바의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ko-KR" altLang="en-US" sz="1300" spc="-151" dirty="0">
                <a:latin typeface="맑은 고딕"/>
                <a:ea typeface="맑은 고딕"/>
              </a:rPr>
              <a:t>이벤트</a:t>
            </a:r>
            <a:r>
              <a:rPr lang="en-US" sz="1300" spc="-151" dirty="0">
                <a:latin typeface="맑은 고딕"/>
                <a:ea typeface="맑은 고딕"/>
              </a:rPr>
              <a:t> 핸들링과 </a:t>
            </a:r>
            <a:r>
              <a:rPr lang="ko-KR" altLang="en-US" sz="1300" spc="-151" dirty="0">
                <a:latin typeface="맑은 고딕"/>
                <a:ea typeface="맑은 고딕"/>
              </a:rPr>
              <a:t>물리적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ko-KR" altLang="en-US" sz="1300" spc="-151" dirty="0">
                <a:latin typeface="맑은 고딕"/>
                <a:ea typeface="맑은 고딕"/>
              </a:rPr>
              <a:t>충돌</a:t>
            </a:r>
            <a:r>
              <a:rPr lang="en-US" sz="1300" spc="-151" dirty="0">
                <a:latin typeface="맑은 고딕"/>
                <a:ea typeface="맑은 고딕"/>
              </a:rPr>
              <a:t> </a:t>
            </a:r>
            <a:r>
              <a:rPr lang="ko-KR" altLang="en-US" sz="1300" spc="-151" dirty="0">
                <a:latin typeface="맑은 고딕"/>
                <a:ea typeface="맑은 고딕"/>
              </a:rPr>
              <a:t>로직을</a:t>
            </a:r>
            <a:r>
              <a:rPr lang="en-US" altLang="ko-KR" sz="1300" spc="-151">
                <a:latin typeface="맑은 고딕"/>
                <a:ea typeface="맑은 고딕"/>
              </a:rPr>
              <a:t> 이해 하게 되었음.</a:t>
            </a:r>
            <a:endParaRPr lang="en-US" sz="1300" spc="-15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33">
            <a:extLst>
              <a:ext uri="{FF2B5EF4-FFF2-40B4-BE49-F238E27FC236}">
                <a16:creationId xmlns:a16="http://schemas.microsoft.com/office/drawing/2014/main" id="{5BDA3105-007D-DCBB-6D1B-6D1B5AACCAAD}"/>
              </a:ext>
            </a:extLst>
          </p:cNvPr>
          <p:cNvSpPr/>
          <p:nvPr/>
        </p:nvSpPr>
        <p:spPr>
          <a:xfrm>
            <a:off x="515520" y="385200"/>
            <a:ext cx="2181408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2400" b="0" strike="noStrike" spc="-1" dirty="0">
                <a:solidFill>
                  <a:srgbClr val="404040"/>
                </a:solidFill>
                <a:latin typeface="휴먼둥근헤드라인"/>
                <a:ea typeface="휴먼둥근헤드라인"/>
              </a:rPr>
              <a:t>프로젝트 </a:t>
            </a:r>
            <a:r>
              <a:rPr lang="ko-KR" altLang="en-US" sz="2400" b="0" strike="noStrike" spc="-1" dirty="0">
                <a:solidFill>
                  <a:srgbClr val="404040"/>
                </a:solidFill>
                <a:latin typeface="휴먼둥근헤드라인"/>
                <a:ea typeface="휴먼둥근헤드라인"/>
              </a:rPr>
              <a:t>개요</a:t>
            </a:r>
            <a:endParaRPr lang="en-US" sz="2400" b="0" strike="noStrike" spc="-1" dirty="0">
              <a:latin typeface="Noto Sans CJK KR"/>
            </a:endParaRPr>
          </a:p>
        </p:txBody>
      </p:sp>
      <p:sp>
        <p:nvSpPr>
          <p:cNvPr id="15" name="직선 연결선 3">
            <a:extLst>
              <a:ext uri="{FF2B5EF4-FFF2-40B4-BE49-F238E27FC236}">
                <a16:creationId xmlns:a16="http://schemas.microsoft.com/office/drawing/2014/main" id="{5AD751A3-FD0D-C5CB-240C-BA5581324C9D}"/>
              </a:ext>
            </a:extLst>
          </p:cNvPr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" name="TextBox 30">
            <a:extLst>
              <a:ext uri="{FF2B5EF4-FFF2-40B4-BE49-F238E27FC236}">
                <a16:creationId xmlns:a16="http://schemas.microsoft.com/office/drawing/2014/main" id="{973C3F99-01AF-D0E8-E8CE-5E7514948639}"/>
              </a:ext>
            </a:extLst>
          </p:cNvPr>
          <p:cNvSpPr/>
          <p:nvPr/>
        </p:nvSpPr>
        <p:spPr>
          <a:xfrm>
            <a:off x="1127520" y="113545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altLang="ko-KR" b="1" spc="-151" dirty="0" err="1">
                <a:solidFill>
                  <a:srgbClr val="3B38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캐논볼</a:t>
            </a:r>
            <a:r>
              <a:rPr lang="en-US" altLang="ko-KR" b="1" spc="-151" dirty="0">
                <a:solidFill>
                  <a:srgbClr val="3B38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(Cannon Ball Game) </a:t>
            </a:r>
            <a:r>
              <a:rPr lang="ko-KR" altLang="ko-KR" b="1" spc="-151" dirty="0">
                <a:solidFill>
                  <a:srgbClr val="3B38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 만들기</a:t>
            </a:r>
            <a:endParaRPr lang="en-US" altLang="ko-KR" spc="-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31">
            <a:extLst>
              <a:ext uri="{FF2B5EF4-FFF2-40B4-BE49-F238E27FC236}">
                <a16:creationId xmlns:a16="http://schemas.microsoft.com/office/drawing/2014/main" id="{1898F21B-AF0B-438C-3FB7-B40A9F33C2DC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  <p:pic>
        <p:nvPicPr>
          <p:cNvPr id="18" name="그림 17" descr="텍스트, 스크린샷, 소프트웨어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93AA5C-1644-C23A-CA7C-3D3300382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448" y="1071563"/>
            <a:ext cx="3737792" cy="30559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11A06B-2C30-C59E-86EC-A4A4D7CAC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7">
            <a:extLst>
              <a:ext uri="{FF2B5EF4-FFF2-40B4-BE49-F238E27FC236}">
                <a16:creationId xmlns:a16="http://schemas.microsoft.com/office/drawing/2014/main" id="{DEBD53FB-F880-0FE5-D9B1-46F367AEC5D2}"/>
              </a:ext>
            </a:extLst>
          </p:cNvPr>
          <p:cNvSpPr/>
          <p:nvPr/>
        </p:nvSpPr>
        <p:spPr>
          <a:xfrm>
            <a:off x="255960" y="249080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" name="TextBox 3">
            <a:extLst>
              <a:ext uri="{FF2B5EF4-FFF2-40B4-BE49-F238E27FC236}">
                <a16:creationId xmlns:a16="http://schemas.microsoft.com/office/drawing/2014/main" id="{E9592304-FF71-E0D4-711C-B526542CED87}"/>
              </a:ext>
            </a:extLst>
          </p:cNvPr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01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4" name="TextBox 33">
            <a:extLst>
              <a:ext uri="{FF2B5EF4-FFF2-40B4-BE49-F238E27FC236}">
                <a16:creationId xmlns:a16="http://schemas.microsoft.com/office/drawing/2014/main" id="{05A1C5C1-C347-E5AA-7189-039F48AF518F}"/>
              </a:ext>
            </a:extLst>
          </p:cNvPr>
          <p:cNvSpPr/>
          <p:nvPr/>
        </p:nvSpPr>
        <p:spPr>
          <a:xfrm>
            <a:off x="515520" y="385200"/>
            <a:ext cx="3873281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ko-KR" altLang="ko-KR" sz="24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휴먼둥근헤드라인"/>
                <a:ea typeface="휴먼둥근헤드라인"/>
              </a:rPr>
              <a:t>프로젝트 팀 구성 및 역할</a:t>
            </a:r>
            <a:endParaRPr lang="en-US" altLang="ko-KR" sz="2400" b="0" strike="noStrike" spc="-1" dirty="0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" name="직선 연결선 3">
            <a:extLst>
              <a:ext uri="{FF2B5EF4-FFF2-40B4-BE49-F238E27FC236}">
                <a16:creationId xmlns:a16="http://schemas.microsoft.com/office/drawing/2014/main" id="{4166CB41-0D1A-3B5A-B45B-9085354494F2}"/>
              </a:ext>
            </a:extLst>
          </p:cNvPr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" name="TextBox 30">
            <a:extLst>
              <a:ext uri="{FF2B5EF4-FFF2-40B4-BE49-F238E27FC236}">
                <a16:creationId xmlns:a16="http://schemas.microsoft.com/office/drawing/2014/main" id="{461D6570-3B0B-9B5F-AC2D-163742DC5056}"/>
              </a:ext>
            </a:extLst>
          </p:cNvPr>
          <p:cNvSpPr/>
          <p:nvPr/>
        </p:nvSpPr>
        <p:spPr>
          <a:xfrm>
            <a:off x="1127520" y="113545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altLang="en-US" b="1" spc="-151" dirty="0">
                <a:solidFill>
                  <a:srgbClr val="3B38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구성 및 역할</a:t>
            </a:r>
            <a:endParaRPr lang="en-US" altLang="ko-KR" spc="-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31">
            <a:extLst>
              <a:ext uri="{FF2B5EF4-FFF2-40B4-BE49-F238E27FC236}">
                <a16:creationId xmlns:a16="http://schemas.microsoft.com/office/drawing/2014/main" id="{CF391475-6367-E296-F9D7-84215E598DD3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  <p:graphicFrame>
        <p:nvGraphicFramePr>
          <p:cNvPr id="18" name="New Table">
            <a:extLst>
              <a:ext uri="{FF2B5EF4-FFF2-40B4-BE49-F238E27FC236}">
                <a16:creationId xmlns:a16="http://schemas.microsoft.com/office/drawing/2014/main" id="{B441F902-0FCB-E7B3-4FFE-5106A88FE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783617"/>
              </p:ext>
            </p:extLst>
          </p:nvPr>
        </p:nvGraphicFramePr>
        <p:xfrm>
          <a:off x="836839" y="1592035"/>
          <a:ext cx="10561026" cy="4918428"/>
        </p:xfrm>
        <a:graphic>
          <a:graphicData uri="http://schemas.openxmlformats.org/drawingml/2006/table">
            <a:tbl>
              <a:tblPr/>
              <a:tblGrid>
                <a:gridCol w="264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6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822"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 marL="0" marR="0" indent="0" algn="ctr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pPr>
                      <a:r>
                        <a:rPr sz="1800" b="1" i="0" u="none" spc="0" baseline="0" dirty="0" err="1">
                          <a:solidFill>
                            <a:srgbClr val="3B3838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Arial"/>
                        </a:rPr>
                        <a:t>훈련생</a:t>
                      </a:r>
                      <a:endParaRPr sz="1800" b="1" i="0" u="none" spc="0" baseline="0" dirty="0">
                        <a:solidFill>
                          <a:srgbClr val="3B3838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Arial"/>
                      </a:endParaRPr>
                    </a:p>
                  </a:txBody>
                  <a:tcPr marL="91446" marR="91446" marT="45723" marB="45723" anchor="ctr">
                    <a:lnL w="28194">
                      <a:solidFill>
                        <a:srgbClr val="FFFFFF"/>
                      </a:solidFill>
                      <a:prstDash val="solid"/>
                    </a:lnL>
                    <a:lnR w="28194">
                      <a:solidFill>
                        <a:srgbClr val="FFFFFF"/>
                      </a:solidFill>
                      <a:prstDash val="solid"/>
                    </a:lnR>
                    <a:lnT w="9398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FFFFFF"/>
                      </a:solidFill>
                      <a:prstDash val="solid"/>
                    </a:lnB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 marL="0" marR="0" indent="0" algn="ctr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pPr>
                      <a:r>
                        <a:rPr sz="1800" b="1" i="0" u="none" spc="0" baseline="0" err="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  <a:sym typeface="Arial"/>
                        </a:rPr>
                        <a:t>담당</a:t>
                      </a:r>
                      <a:r>
                        <a:rPr sz="1800" b="1" i="0" u="none" spc="0" baseline="0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  <a:sym typeface="Arial"/>
                        </a:rPr>
                        <a:t> </a:t>
                      </a:r>
                      <a:r>
                        <a:rPr sz="1800" b="1" i="0" u="none" spc="0" baseline="0" err="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  <a:sym typeface="Arial"/>
                        </a:rPr>
                        <a:t>업무</a:t>
                      </a:r>
                      <a:endParaRPr sz="1800" b="1" i="0" u="none" spc="0" baseline="0" dirty="0" err="1">
                        <a:solidFill>
                          <a:srgbClr val="3B3838"/>
                        </a:solidFill>
                        <a:latin typeface="맑은 고딕"/>
                        <a:ea typeface="맑은 고딕"/>
                        <a:sym typeface="Arial"/>
                      </a:endParaRPr>
                    </a:p>
                  </a:txBody>
                  <a:tcPr marL="91446" marR="91446" marT="45723" marB="45723" anchor="ctr">
                    <a:lnL w="281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194">
                      <a:solidFill>
                        <a:srgbClr val="FFFFFF"/>
                      </a:solidFill>
                      <a:prstDash val="solid"/>
                    </a:lnR>
                    <a:lnT w="9398">
                      <a:solidFill>
                        <a:srgbClr val="000000"/>
                      </a:solidFill>
                      <a:prstDash val="solid"/>
                    </a:lnT>
                    <a:lnB w="281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606"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 marL="0" marR="0" indent="0" algn="ctr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ko-KR" altLang="en-US" sz="1600" b="1" i="0" u="none" spc="0" baseline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문재민</a:t>
                      </a:r>
                      <a:endParaRPr altLang="en-US" sz="1600" b="1" i="0" u="none" spc="0" baseline="0" dirty="0">
                        <a:solidFill>
                          <a:srgbClr val="3B3838"/>
                        </a:solidFill>
                        <a:latin typeface="맑은 고딕"/>
                        <a:ea typeface="맑은 고딕"/>
                        <a:sym typeface="Arial"/>
                      </a:endParaRPr>
                    </a:p>
                  </a:txBody>
                  <a:tcPr marL="91446" marR="91446" marT="45723" marB="45723" anchor="ctr">
                    <a:lnL w="28194">
                      <a:solidFill>
                        <a:srgbClr val="FFFFFF"/>
                      </a:solidFill>
                      <a:prstDash val="solid"/>
                    </a:lnL>
                    <a:lnR w="28194">
                      <a:solidFill>
                        <a:srgbClr val="FFFFFF"/>
                      </a:solidFill>
                      <a:prstDash val="solid"/>
                    </a:lnR>
                    <a:lnT w="28194">
                      <a:solidFill>
                        <a:srgbClr val="FFFFFF"/>
                      </a:solidFill>
                      <a:prstDash val="solid"/>
                    </a:lnT>
                    <a:lnB w="28194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 marL="0" marR="0" indent="0" algn="l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pPr>
                      <a:r>
                        <a:rPr sz="1600" b="1" i="0" u="none" spc="0" baseline="0" dirty="0">
                          <a:solidFill>
                            <a:srgbClr val="3B3838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Arial"/>
                        </a:rPr>
                        <a:t>▶ </a:t>
                      </a:r>
                      <a:r>
                        <a:rPr sz="1600" b="1" i="0" u="none" spc="0" baseline="0" dirty="0" err="1">
                          <a:solidFill>
                            <a:srgbClr val="3B3838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Arial"/>
                        </a:rPr>
                        <a:t>프로젝트</a:t>
                      </a:r>
                      <a:r>
                        <a:rPr sz="1600" b="1" i="0" u="none" spc="0" baseline="0" dirty="0">
                          <a:solidFill>
                            <a:srgbClr val="3B3838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Arial"/>
                        </a:rPr>
                        <a:t> </a:t>
                      </a:r>
                      <a:r>
                        <a:rPr sz="1600" b="1" i="0" u="none" spc="0" baseline="0" dirty="0" err="1">
                          <a:solidFill>
                            <a:srgbClr val="3B3838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Arial"/>
                        </a:rPr>
                        <a:t>구조</a:t>
                      </a:r>
                      <a:r>
                        <a:rPr sz="1600" b="1" i="0" u="none" spc="0" baseline="0" dirty="0">
                          <a:solidFill>
                            <a:srgbClr val="3B3838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Arial"/>
                        </a:rPr>
                        <a:t> </a:t>
                      </a:r>
                      <a:r>
                        <a:rPr sz="1600" b="1" i="0" u="none" spc="0" baseline="0" dirty="0" err="1">
                          <a:solidFill>
                            <a:srgbClr val="3B3838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Arial"/>
                        </a:rPr>
                        <a:t>설계</a:t>
                      </a:r>
                      <a:endParaRPr sz="1600" b="1" i="0" u="none" spc="0" baseline="0" dirty="0">
                        <a:solidFill>
                          <a:srgbClr val="3B3838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Arial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ko-KR" altLang="en-US" sz="1600" b="1" i="0" u="none" spc="0" baseline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상속과 인터페이스를 활용한 확장성 있는 아키텍처 설계</a:t>
                      </a:r>
                      <a:endParaRPr lang="ko-KR" sz="1600" b="1" i="0" u="none" spc="0" baseline="0" dirty="0">
                        <a:solidFill>
                          <a:srgbClr val="3B3838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ko-KR" altLang="en-US" sz="1600" b="1" i="0" u="none" spc="0" baseline="0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endParaRPr lang="ko-KR" sz="1600" b="1" i="0" u="none" spc="0" baseline="0" dirty="0">
                        <a:solidFill>
                          <a:srgbClr val="3B3838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0" marR="0" indent="0" algn="l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 i="0" u="none" spc="0" baseline="0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  <a:sym typeface="Arial"/>
                        </a:rPr>
                        <a:t>▶ </a:t>
                      </a:r>
                      <a:r>
                        <a:rPr lang="ko-KR" altLang="en-US" sz="1600" b="1" i="0" u="none" spc="0" baseline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핵심 로직 구현</a:t>
                      </a:r>
                      <a:endParaRPr lang="ko-KR" altLang="en-US" sz="1600" b="1" i="0" u="none" spc="0" baseline="0">
                        <a:solidFill>
                          <a:srgbClr val="3B3838"/>
                        </a:solidFill>
                        <a:latin typeface="맑은 고딕"/>
                        <a:ea typeface="맑은 고딕"/>
                        <a:sym typeface="Arial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ko-KR" altLang="en-US" sz="1600" b="1" i="0" u="none" spc="0" baseline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공의 이동, 벽 판정, AABB 기반 충돌 시스템 개발.</a:t>
                      </a:r>
                      <a:endParaRPr lang="ko-KR" sz="1600" b="1" i="0" u="none" spc="0" baseline="0" dirty="0">
                        <a:solidFill>
                          <a:srgbClr val="3B3838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ko-KR" altLang="en-US" sz="1600" b="1" i="0" u="none" spc="0" baseline="0" dirty="0">
                        <a:solidFill>
                          <a:srgbClr val="3B3838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0" marR="0" indent="0" algn="l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 i="0" u="none" spc="0" baseline="0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  <a:sym typeface="Arial"/>
                        </a:rPr>
                        <a:t>▶ 게임 </a:t>
                      </a:r>
                      <a:r>
                        <a:rPr lang="en-US" altLang="ko-KR" sz="1600" b="1" i="0" u="none" spc="0" baseline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콘텐츠 </a:t>
                      </a:r>
                      <a:r>
                        <a:rPr lang="ko-KR" altLang="en-US" sz="1600" b="1" i="0" u="none" spc="0" baseline="0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개발</a:t>
                      </a:r>
                      <a:r>
                        <a:rPr lang="en-US" sz="1600" b="1" i="0" u="none" spc="0" baseline="0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lang="ko-KR" altLang="en-US" sz="1600" b="1" i="0" u="none" strike="noStrike" spc="0" baseline="0" noProof="0" dirty="0">
                          <a:solidFill>
                            <a:srgbClr val="3B3838"/>
                          </a:solidFill>
                          <a:latin typeface="Malgun Gothic"/>
                          <a:ea typeface="Malgun Gothic"/>
                        </a:rPr>
                        <a:t>벽돌 배치 시스템</a:t>
                      </a:r>
                      <a:r>
                        <a:rPr lang="en-US" sz="1600" b="1" i="0" u="none" strike="noStrike" spc="0" baseline="0" noProof="0" dirty="0">
                          <a:solidFill>
                            <a:srgbClr val="3B3838"/>
                          </a:solidFill>
                          <a:latin typeface="Malgun Gothic"/>
                        </a:rPr>
                        <a:t>,</a:t>
                      </a:r>
                      <a:r>
                        <a:rPr lang="ko-KR" altLang="en-US" sz="1600" b="1" i="0" u="none" strike="noStrike" spc="0" baseline="0" noProof="0" dirty="0">
                          <a:solidFill>
                            <a:srgbClr val="3B3838"/>
                          </a:solidFill>
                          <a:latin typeface="Malgun Gothic"/>
                          <a:ea typeface="Malgun Gothic"/>
                        </a:rPr>
                        <a:t> 레벨업</a:t>
                      </a:r>
                      <a:r>
                        <a:rPr lang="en-US" sz="1600" b="1" i="0" u="none" strike="noStrike" spc="0" baseline="0" noProof="0" dirty="0">
                          <a:solidFill>
                            <a:srgbClr val="3B3838"/>
                          </a:solidFill>
                          <a:latin typeface="Malgun Gothic"/>
                        </a:rPr>
                        <a:t>(1.1</a:t>
                      </a:r>
                      <a:r>
                        <a:rPr lang="ko-KR" altLang="en-US" sz="1600" b="1" i="0" u="none" strike="noStrike" spc="0" baseline="0" noProof="0" dirty="0">
                          <a:solidFill>
                            <a:srgbClr val="3B3838"/>
                          </a:solidFill>
                          <a:latin typeface="Malgun Gothic"/>
                        </a:rPr>
                        <a:t>배</a:t>
                      </a:r>
                      <a:r>
                        <a:rPr lang="en-US" sz="1600" b="1" i="0" u="none" strike="noStrike" spc="0" baseline="0" noProof="0" dirty="0">
                          <a:solidFill>
                            <a:srgbClr val="3B3838"/>
                          </a:solidFill>
                          <a:latin typeface="Malgun Gothic"/>
                        </a:rPr>
                        <a:t>)</a:t>
                      </a:r>
                      <a:endParaRPr sz="1600" b="1" i="0" u="none" spc="0" baseline="0" dirty="0">
                        <a:solidFill>
                          <a:srgbClr val="3B3838"/>
                        </a:solidFill>
                        <a:latin typeface="맑은 고딕"/>
                        <a:ea typeface="맑은 고딕"/>
                        <a:sym typeface="Arial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ko-KR" sz="1600" b="1" i="0" u="none" spc="0" baseline="0" dirty="0">
                        <a:solidFill>
                          <a:srgbClr val="3B3838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0" marR="0" indent="0" algn="l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 i="0" u="none" spc="0" baseline="0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  <a:sym typeface="Arial"/>
                        </a:rPr>
                        <a:t>▶ </a:t>
                      </a:r>
                      <a:r>
                        <a:rPr lang="af-ZA" sz="1600" b="1" i="0" u="none" spc="0" baseline="0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UI/UX </a:t>
                      </a:r>
                      <a:r>
                        <a:rPr lang="ko-KR" altLang="af-ZA" sz="1600" b="1" i="0" u="none" spc="0" baseline="0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디자인</a:t>
                      </a:r>
                      <a:r>
                        <a:rPr lang="af-ZA" altLang="ko-KR" sz="1600" b="1" i="0" u="none" spc="0" baseline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: javaFX를 활용한 게임 화면 구성 및 사용자 키보드 입력</a:t>
                      </a:r>
                      <a:endParaRPr lang="ko-KR" altLang="af-ZA" sz="1600" b="1" i="0" u="none" spc="0" baseline="0">
                        <a:solidFill>
                          <a:srgbClr val="3B3838"/>
                        </a:solidFill>
                        <a:latin typeface="맑은 고딕"/>
                        <a:ea typeface="맑은 고딕"/>
                        <a:sym typeface="Arial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af-ZA" altLang="ko-KR" sz="1600" b="1" i="0" u="none" spc="0" baseline="0" dirty="0">
                        <a:solidFill>
                          <a:srgbClr val="3B3838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0" marR="0" indent="0" algn="l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 i="0" u="none" spc="0" baseline="0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  <a:sym typeface="Arial"/>
                        </a:rPr>
                        <a:t>▶ </a:t>
                      </a:r>
                      <a:r>
                        <a:rPr lang="ko-KR" sz="1600" b="1" i="0" u="none" spc="0" baseline="0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테스트 및 </a:t>
                      </a:r>
                      <a:r>
                        <a:rPr lang="ko-KR" altLang="en-US" sz="1600" b="1" i="0" u="none" spc="0" baseline="0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디버깅</a:t>
                      </a:r>
                      <a:r>
                        <a:rPr lang="en-US" altLang="ko-KR" sz="1600" b="1" i="0" u="none" spc="0" baseline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: (하지 않았음).</a:t>
                      </a:r>
                      <a:endParaRPr lang="ko-KR" altLang="en-US" sz="1600" b="1" i="0" u="none" spc="0" baseline="0">
                        <a:solidFill>
                          <a:srgbClr val="3B3838"/>
                        </a:solidFill>
                        <a:latin typeface="맑은 고딕"/>
                        <a:ea typeface="맑은 고딕"/>
                        <a:sym typeface="Arial"/>
                      </a:endParaRPr>
                    </a:p>
                  </a:txBody>
                  <a:tcPr marL="91446" marR="91446" marT="45723" marB="45723" anchor="ctr">
                    <a:lnL w="281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194">
                      <a:solidFill>
                        <a:srgbClr val="FFFFFF"/>
                      </a:solidFill>
                      <a:prstDash val="solid"/>
                    </a:lnR>
                    <a:lnT w="2819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194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314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BFD82-A38B-715C-059F-54A56E68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7">
            <a:extLst>
              <a:ext uri="{FF2B5EF4-FFF2-40B4-BE49-F238E27FC236}">
                <a16:creationId xmlns:a16="http://schemas.microsoft.com/office/drawing/2014/main" id="{325635B8-DAB7-F3CB-ABB1-76FBCBB42052}"/>
              </a:ext>
            </a:extLst>
          </p:cNvPr>
          <p:cNvSpPr/>
          <p:nvPr/>
        </p:nvSpPr>
        <p:spPr>
          <a:xfrm>
            <a:off x="255960" y="249080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" name="TextBox 3">
            <a:extLst>
              <a:ext uri="{FF2B5EF4-FFF2-40B4-BE49-F238E27FC236}">
                <a16:creationId xmlns:a16="http://schemas.microsoft.com/office/drawing/2014/main" id="{75D25907-B77B-6E5D-B6B7-35BEB27A43FD}"/>
              </a:ext>
            </a:extLst>
          </p:cNvPr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01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4" name="TextBox 33">
            <a:extLst>
              <a:ext uri="{FF2B5EF4-FFF2-40B4-BE49-F238E27FC236}">
                <a16:creationId xmlns:a16="http://schemas.microsoft.com/office/drawing/2014/main" id="{1A44F528-881D-2C3A-DB9D-2674D8D5D082}"/>
              </a:ext>
            </a:extLst>
          </p:cNvPr>
          <p:cNvSpPr/>
          <p:nvPr/>
        </p:nvSpPr>
        <p:spPr>
          <a:xfrm>
            <a:off x="515520" y="385200"/>
            <a:ext cx="418093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2400" b="0" strike="noStrike" spc="-1" dirty="0">
                <a:solidFill>
                  <a:srgbClr val="404040"/>
                </a:solidFill>
                <a:latin typeface="휴먼둥근헤드라인"/>
                <a:ea typeface="휴먼둥근헤드라인"/>
              </a:rPr>
              <a:t>프로젝트 </a:t>
            </a:r>
            <a:r>
              <a:rPr lang="ko-KR" altLang="en-US" sz="2400" b="0" strike="noStrike" spc="-1" dirty="0">
                <a:solidFill>
                  <a:srgbClr val="404040"/>
                </a:solidFill>
                <a:latin typeface="휴먼둥근헤드라인"/>
                <a:ea typeface="휴먼둥근헤드라인"/>
              </a:rPr>
              <a:t>수행 절차 및 방법</a:t>
            </a:r>
            <a:endParaRPr lang="en-US" sz="2400" b="0" strike="noStrike" spc="-1" dirty="0">
              <a:latin typeface="Noto Sans CJK KR"/>
            </a:endParaRPr>
          </a:p>
        </p:txBody>
      </p:sp>
      <p:sp>
        <p:nvSpPr>
          <p:cNvPr id="15" name="직선 연결선 3">
            <a:extLst>
              <a:ext uri="{FF2B5EF4-FFF2-40B4-BE49-F238E27FC236}">
                <a16:creationId xmlns:a16="http://schemas.microsoft.com/office/drawing/2014/main" id="{FC98530C-C6B8-463F-75B9-C86AE5DD6502}"/>
              </a:ext>
            </a:extLst>
          </p:cNvPr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" name="TextBox 30">
            <a:extLst>
              <a:ext uri="{FF2B5EF4-FFF2-40B4-BE49-F238E27FC236}">
                <a16:creationId xmlns:a16="http://schemas.microsoft.com/office/drawing/2014/main" id="{4D9BDF2B-F05B-ECA6-DD0D-799F800898F5}"/>
              </a:ext>
            </a:extLst>
          </p:cNvPr>
          <p:cNvSpPr/>
          <p:nvPr/>
        </p:nvSpPr>
        <p:spPr>
          <a:xfrm>
            <a:off x="1127520" y="113545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altLang="en-US" b="1" spc="-151" dirty="0">
                <a:solidFill>
                  <a:srgbClr val="3B38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사전기획과 프로젝트 수행 및 완료과정</a:t>
            </a:r>
            <a:endParaRPr lang="en-US" altLang="ko-KR" spc="-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31">
            <a:extLst>
              <a:ext uri="{FF2B5EF4-FFF2-40B4-BE49-F238E27FC236}">
                <a16:creationId xmlns:a16="http://schemas.microsoft.com/office/drawing/2014/main" id="{03E1C60A-C0B9-AE44-0250-56245FCB7861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  <p:graphicFrame>
        <p:nvGraphicFramePr>
          <p:cNvPr id="18" name="New Table">
            <a:extLst>
              <a:ext uri="{FF2B5EF4-FFF2-40B4-BE49-F238E27FC236}">
                <a16:creationId xmlns:a16="http://schemas.microsoft.com/office/drawing/2014/main" id="{4909D1AB-420D-00B9-F7BB-C3EBE16B8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046413"/>
              </p:ext>
            </p:extLst>
          </p:nvPr>
        </p:nvGraphicFramePr>
        <p:xfrm>
          <a:off x="836839" y="1592036"/>
          <a:ext cx="10994745" cy="4467332"/>
        </p:xfrm>
        <a:graphic>
          <a:graphicData uri="http://schemas.openxmlformats.org/drawingml/2006/table">
            <a:tbl>
              <a:tblPr/>
              <a:tblGrid>
                <a:gridCol w="2050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1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0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2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187"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ko-KR" altLang="en-US"/>
                        <a:t>구분</a:t>
                      </a:r>
                      <a:endParaRPr>
                        <a:sym typeface="Arial"/>
                      </a:endParaRPr>
                    </a:p>
                  </a:txBody>
                  <a:tcPr marL="84605" marR="84605" marT="42483" marB="42483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9398">
                      <a:solidFill>
                        <a:srgbClr val="000000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pPr>
                      <a:r>
                        <a:rPr lang="ko-KR" altLang="en-US"/>
                        <a:t>기간</a:t>
                      </a:r>
                      <a:endParaRPr>
                        <a:sym typeface="Arial"/>
                      </a:endParaRPr>
                    </a:p>
                  </a:txBody>
                  <a:tcPr marL="84605" marR="84605" marT="42483" marB="42483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9398">
                      <a:solidFill>
                        <a:srgbClr val="000000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ko-KR" altLang="en-US"/>
                        <a:t>활동</a:t>
                      </a:r>
                      <a:endParaRPr>
                        <a:sym typeface="Arial"/>
                      </a:endParaRPr>
                    </a:p>
                  </a:txBody>
                  <a:tcPr marL="84605" marR="84605" marT="42483" marB="42483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9398">
                      <a:solidFill>
                        <a:srgbClr val="000000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ko-KR"/>
                        <a:t>비고</a:t>
                      </a:r>
                      <a:endParaRPr>
                        <a:sym typeface="Arial"/>
                      </a:endParaRPr>
                    </a:p>
                  </a:txBody>
                  <a:tcPr marL="84605" marR="84605" marT="42483" marB="42483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9398">
                      <a:solidFill>
                        <a:srgbClr val="000000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5D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886"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ko-KR"/>
                        <a:t>사전 기획</a:t>
                      </a:r>
                      <a:endParaRPr altLang="en-US">
                        <a:sym typeface="Arial"/>
                      </a:endParaRPr>
                    </a:p>
                  </a:txBody>
                  <a:tcPr marL="84605" marR="84605" marT="42483" marB="42483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en-US"/>
                        <a:t>09:00 ~ 10:30</a:t>
                      </a:r>
                      <a:endParaRPr>
                        <a:sym typeface="Arial"/>
                      </a:endParaRPr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ko-KR" altLang="en-US"/>
                        <a:t>이번 주 학습한 자바 데이터 구조 분석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/>
                        <a:t>벽돌 깨기 게임 핵심 로직 구상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/>
                        <a:t>클래스 구조 및 인터페이스 설계</a:t>
                      </a:r>
                      <a:endParaRPr lang="ko-KR" altLang="en-US" dirty="0"/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 lvl="0">
                        <a:buNone/>
                      </a:pPr>
                      <a:r>
                        <a:rPr lang="ko-KR" altLang="en-US" sz="1800" b="0" i="0" u="none" strike="noStrike" noProof="0"/>
                        <a:t>아이디어</a:t>
                      </a:r>
                      <a:r>
                        <a:rPr lang="en-US" altLang="ko-KR" sz="1800" b="0" i="0" u="none" strike="noStrike" noProof="0" dirty="0"/>
                        <a:t> </a:t>
                      </a:r>
                      <a:r>
                        <a:rPr lang="ko-KR" altLang="en-US" sz="1800" b="0" i="0" u="none" strike="noStrike" noProof="0"/>
                        <a:t>확정</a:t>
                      </a:r>
                      <a:r>
                        <a:rPr lang="en-US" altLang="ko-KR" sz="1800" b="0" i="0" u="none" strike="noStrike" noProof="0" dirty="0"/>
                        <a:t> </a:t>
                      </a:r>
                      <a:r>
                        <a:rPr lang="ko-KR" altLang="en-US" sz="1800" b="0" i="0" u="none" strike="noStrike" noProof="0"/>
                        <a:t>및</a:t>
                      </a:r>
                      <a:r>
                        <a:rPr lang="en-US" altLang="ko-KR" sz="1800" b="0" i="0" u="none" strike="noStrike" noProof="0" dirty="0"/>
                        <a:t> </a:t>
                      </a:r>
                      <a:r>
                        <a:rPr lang="ko-KR" altLang="en-US" sz="1800" b="0" i="0" u="none" strike="noStrike" noProof="0"/>
                        <a:t>기초</a:t>
                      </a:r>
                      <a:r>
                        <a:rPr lang="en-US" altLang="ko-KR" sz="1800" b="0" i="0" u="none" strike="noStrike" noProof="0" dirty="0"/>
                        <a:t> </a:t>
                      </a:r>
                      <a:r>
                        <a:rPr lang="ko-KR" altLang="en-US" sz="1800" b="0" i="0" u="none" strike="noStrike" noProof="0"/>
                        <a:t>설계</a:t>
                      </a:r>
                      <a:endParaRPr>
                        <a:sym typeface="Arial"/>
                      </a:endParaRPr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921"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ko-KR"/>
                        <a:t>기능 개발 및 구현</a:t>
                      </a:r>
                      <a:endParaRPr>
                        <a:sym typeface="Arial"/>
                      </a:endParaRPr>
                    </a:p>
                  </a:txBody>
                  <a:tcPr marL="84605" marR="84605" marT="42483" marB="42483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en-US" dirty="0"/>
                        <a:t>10:30 ~</a:t>
                      </a:r>
                      <a:r>
                        <a:rPr lang="en-US" altLang="ko-KR"/>
                        <a:t> 14:00</a:t>
                      </a:r>
                      <a:endParaRPr>
                        <a:sym typeface="Arial"/>
                      </a:endParaRPr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en-US"/>
                        <a:t>Ball, Paddle, Bricks </a:t>
                      </a:r>
                      <a:r>
                        <a:rPr lang="ko-KR" altLang="en-US"/>
                        <a:t>등</a:t>
                      </a:r>
                      <a:r>
                        <a:rPr lang="en-US" dirty="0"/>
                        <a:t> </a:t>
                      </a:r>
                      <a:r>
                        <a:rPr lang="ko-KR" altLang="en-US"/>
                        <a:t>핵심</a:t>
                      </a:r>
                      <a:r>
                        <a:rPr lang="en-US" dirty="0"/>
                        <a:t> </a:t>
                      </a:r>
                      <a:r>
                        <a:rPr lang="ko-KR" altLang="en-US"/>
                        <a:t>클래스</a:t>
                      </a:r>
                      <a:r>
                        <a:rPr lang="en-US" dirty="0"/>
                        <a:t> </a:t>
                      </a:r>
                      <a:r>
                        <a:rPr lang="ko-KR" altLang="en-US"/>
                        <a:t>개발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/>
                        <a:t>JavaFX 기반 게임 시스템 구축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/>
                        <a:t>벽돌 자동 배치 -&gt; for문</a:t>
                      </a:r>
                      <a:endParaRPr lang="ko-KR" altLang="en-US" dirty="0"/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ko-KR"/>
                        <a:t>핵심 기능 구현</a:t>
                      </a:r>
                      <a:endParaRPr altLang="en-US">
                        <a:sym typeface="Arial"/>
                      </a:endParaRPr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921"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ko-KR" altLang="en-US"/>
                        <a:t>물리엔진 개발</a:t>
                      </a:r>
                      <a:endParaRPr>
                        <a:sym typeface="Arial"/>
                      </a:endParaRPr>
                    </a:p>
                  </a:txBody>
                  <a:tcPr marL="84605" marR="84605" marT="42483" marB="42483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en-US"/>
                        <a:t>14:00 ~ 15:00</a:t>
                      </a:r>
                      <a:endParaRPr>
                        <a:sym typeface="Arial"/>
                      </a:endParaRPr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ko-KR" dirty="0"/>
                        <a:t>충돌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/>
                        <a:t> 속도(x-1) 반사 로직 적용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/>
                        <a:t>점수, 생명, 레벨업 시스템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/>
                        <a:t>사용자 키보드 입력 받기</a:t>
                      </a:r>
                      <a:endParaRPr lang="ko-KR" altLang="en-US" dirty="0"/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ko-KR" altLang="en-US"/>
                        <a:t>시스템 통합 및 상호작용 설계</a:t>
                      </a:r>
                      <a:endParaRPr lang="ko-KR"/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572"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ko-KR"/>
                        <a:t>최종 테스트 및 정리</a:t>
                      </a:r>
                      <a:endParaRPr>
                        <a:sym typeface="Arial"/>
                      </a:endParaRPr>
                    </a:p>
                  </a:txBody>
                  <a:tcPr marL="84605" marR="84605" marT="42483" marB="42483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en-US"/>
                        <a:t>15:00 ~ 16:00</a:t>
                      </a:r>
                      <a:endParaRPr>
                        <a:sym typeface="Arial"/>
                      </a:endParaRPr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ko-KR" dirty="0"/>
                        <a:t>코드 주석 보강</a:t>
                      </a:r>
                      <a:r>
                        <a:rPr lang="ko-KR" altLang="en-US"/>
                        <a:t> , git 업로드 완료</a:t>
                      </a:r>
                      <a:endParaRPr lang="en-US" altLang="ko-KR">
                        <a:sym typeface="Arial"/>
                      </a:endParaRPr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ko-KR" altLang="en-US"/>
                        <a:t> 최종 결과물 제출</a:t>
                      </a:r>
                      <a:endParaRPr>
                        <a:sym typeface="Arial"/>
                      </a:endParaRPr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434"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ko-KR" altLang="en-US"/>
                        <a:t>총 개발 기간</a:t>
                      </a:r>
                      <a:endParaRPr>
                        <a:sym typeface="Arial"/>
                      </a:endParaRPr>
                    </a:p>
                  </a:txBody>
                  <a:tcPr marL="84605" marR="84605" marT="42483" marB="42483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</a:pPr>
                      <a:r>
                        <a:rPr lang="en-US"/>
                        <a:t>09:00 ~ 16:00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(</a:t>
                      </a:r>
                      <a:r>
                        <a:rPr lang="ko-KR" altLang="en-US"/>
                        <a:t>총</a:t>
                      </a:r>
                      <a:r>
                        <a:rPr lang="en-US"/>
                        <a:t> 7</a:t>
                      </a:r>
                      <a:r>
                        <a:rPr lang="ko-KR" altLang="en-US"/>
                        <a:t>시간</a:t>
                      </a:r>
                      <a:r>
                        <a:rPr lang="en-US"/>
                        <a:t>)</a:t>
                      </a:r>
                      <a:endParaRPr lang="en-US" dirty="0"/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pPr>
                      <a:endParaRPr lang="ko-KR">
                        <a:sym typeface="Arial"/>
                      </a:endParaRPr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defPPr>
                    </a:lstStyle>
                    <a:p>
                      <a:pPr>
                        <a:buNone/>
                        <a:defRPr sz="1800" b="0">
                          <a:latin typeface="Noto Sans CJK KR"/>
                          <a:ea typeface="Noto Sans CJK KR"/>
                          <a:cs typeface="Lohit Devanagari"/>
                          <a:sym typeface="Arial"/>
                        </a:defRPr>
                      </a:pPr>
                      <a:endParaRPr>
                        <a:sym typeface="Arial"/>
                      </a:endParaRPr>
                    </a:p>
                  </a:txBody>
                  <a:tcPr marL="33122" marR="3600" marT="3600" marB="0" anchor="ctr">
                    <a:lnL w="18796">
                      <a:solidFill>
                        <a:srgbClr val="FFFFFF"/>
                      </a:solidFill>
                      <a:prstDash val="solid"/>
                    </a:lnL>
                    <a:lnR w="18796">
                      <a:solidFill>
                        <a:srgbClr val="FFFFFF"/>
                      </a:solidFill>
                      <a:prstDash val="solid"/>
                    </a:lnR>
                    <a:lnT w="18796">
                      <a:solidFill>
                        <a:srgbClr val="FFFFFF"/>
                      </a:solidFill>
                      <a:prstDash val="solid"/>
                    </a:lnT>
                    <a:lnB w="18796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9280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93469-0610-9DF8-6383-D954D21CC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직사각형 14">
            <a:extLst>
              <a:ext uri="{FF2B5EF4-FFF2-40B4-BE49-F238E27FC236}">
                <a16:creationId xmlns:a16="http://schemas.microsoft.com/office/drawing/2014/main" id="{92FBC6CF-BCA1-E245-8689-24005099FC14}"/>
              </a:ext>
            </a:extLst>
          </p:cNvPr>
          <p:cNvSpPr/>
          <p:nvPr/>
        </p:nvSpPr>
        <p:spPr>
          <a:xfrm>
            <a:off x="227520" y="191880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5" name="TextBox 30">
            <a:extLst>
              <a:ext uri="{FF2B5EF4-FFF2-40B4-BE49-F238E27FC236}">
                <a16:creationId xmlns:a16="http://schemas.microsoft.com/office/drawing/2014/main" id="{8C3236AD-63FA-56FB-7033-BFEA61529B49}"/>
              </a:ext>
            </a:extLst>
          </p:cNvPr>
          <p:cNvSpPr/>
          <p:nvPr/>
        </p:nvSpPr>
        <p:spPr>
          <a:xfrm>
            <a:off x="1127520" y="129420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endParaRPr lang="en-US" sz="1800" b="0" strike="noStrike" spc="-1" dirty="0">
              <a:latin typeface="Noto Sans CJK KR"/>
            </a:endParaRPr>
          </a:p>
        </p:txBody>
      </p:sp>
      <p:sp>
        <p:nvSpPr>
          <p:cNvPr id="127" name="직선 연결선 3">
            <a:extLst>
              <a:ext uri="{FF2B5EF4-FFF2-40B4-BE49-F238E27FC236}">
                <a16:creationId xmlns:a16="http://schemas.microsoft.com/office/drawing/2014/main" id="{93F2A535-626C-0EF6-BE73-840EAF84D46E}"/>
              </a:ext>
            </a:extLst>
          </p:cNvPr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" name="TextBox 32">
            <a:extLst>
              <a:ext uri="{FF2B5EF4-FFF2-40B4-BE49-F238E27FC236}">
                <a16:creationId xmlns:a16="http://schemas.microsoft.com/office/drawing/2014/main" id="{208CEDCE-0FBC-F70D-3BCF-89B816C139DF}"/>
              </a:ext>
            </a:extLst>
          </p:cNvPr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04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29" name="TextBox 33">
            <a:extLst>
              <a:ext uri="{FF2B5EF4-FFF2-40B4-BE49-F238E27FC236}">
                <a16:creationId xmlns:a16="http://schemas.microsoft.com/office/drawing/2014/main" id="{3CEF11F3-5109-49BF-1F15-7F796E409D88}"/>
              </a:ext>
            </a:extLst>
          </p:cNvPr>
          <p:cNvSpPr/>
          <p:nvPr/>
        </p:nvSpPr>
        <p:spPr>
          <a:xfrm>
            <a:off x="515520" y="385200"/>
            <a:ext cx="2594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2400" b="0" strike="noStrike" spc="-1">
                <a:solidFill>
                  <a:srgbClr val="404040"/>
                </a:solidFill>
                <a:latin typeface="휴먼둥근헤드라인"/>
                <a:ea typeface="휴먼둥근헤드라인"/>
              </a:rPr>
              <a:t>프로젝트 수행 경과</a:t>
            </a:r>
            <a:endParaRPr lang="en-US" sz="2400" b="0" strike="noStrike" spc="-1">
              <a:latin typeface="Noto Sans CJK KR"/>
            </a:endParaRPr>
          </a:p>
        </p:txBody>
      </p:sp>
      <p:sp>
        <p:nvSpPr>
          <p:cNvPr id="130" name="직사각형 19">
            <a:extLst>
              <a:ext uri="{FF2B5EF4-FFF2-40B4-BE49-F238E27FC236}">
                <a16:creationId xmlns:a16="http://schemas.microsoft.com/office/drawing/2014/main" id="{6FE7EE08-0748-4B66-C2AB-A5CCB1EF3904}"/>
              </a:ext>
            </a:extLst>
          </p:cNvPr>
          <p:cNvSpPr/>
          <p:nvPr/>
        </p:nvSpPr>
        <p:spPr>
          <a:xfrm>
            <a:off x="860005" y="1712635"/>
            <a:ext cx="54241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buNone/>
              <a:tabLst>
                <a:tab pos="408240" algn="l"/>
              </a:tabLst>
            </a:pPr>
            <a:endParaRPr lang="en-US" sz="1400" strike="noStrike" spc="-15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3B979CBB-332E-829B-AAD7-44345244AA60}"/>
              </a:ext>
            </a:extLst>
          </p:cNvPr>
          <p:cNvSpPr/>
          <p:nvPr/>
        </p:nvSpPr>
        <p:spPr>
          <a:xfrm>
            <a:off x="1127520" y="113545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408240" algn="l"/>
              </a:tabLst>
            </a:pPr>
            <a:r>
              <a:rPr lang="en-US" altLang="ko-KR" b="1" spc="-100">
                <a:solidFill>
                  <a:srgbClr val="3B3838"/>
                </a:solidFill>
                <a:latin typeface="맑은 고딕"/>
                <a:ea typeface="맑은 고딕"/>
              </a:rPr>
              <a:t>1. Point </a:t>
            </a:r>
            <a:r>
              <a:rPr lang="ko-KR" altLang="ko-KR" b="1" spc="-100">
                <a:solidFill>
                  <a:srgbClr val="3B3838"/>
                </a:solidFill>
                <a:latin typeface="맑은 고딕"/>
                <a:ea typeface="맑은 고딕"/>
              </a:rPr>
              <a:t>객체 생성하기</a:t>
            </a:r>
            <a:endParaRPr lang="en-US" altLang="ko-KR" spc="-1">
              <a:latin typeface="맑은 고딕"/>
              <a:ea typeface="맑은 고딕"/>
            </a:endParaRPr>
          </a:p>
        </p:txBody>
      </p:sp>
      <p:sp>
        <p:nvSpPr>
          <p:cNvPr id="4" name="TextBox 31">
            <a:extLst>
              <a:ext uri="{FF2B5EF4-FFF2-40B4-BE49-F238E27FC236}">
                <a16:creationId xmlns:a16="http://schemas.microsoft.com/office/drawing/2014/main" id="{BD405A4F-75F5-F275-AF17-338CE70FBACF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02DD5-A18D-66C8-9C28-63FC61148B5B}"/>
              </a:ext>
            </a:extLst>
          </p:cNvPr>
          <p:cNvSpPr txBox="1"/>
          <p:nvPr/>
        </p:nvSpPr>
        <p:spPr>
          <a:xfrm>
            <a:off x="515939" y="1658938"/>
            <a:ext cx="6619875" cy="3847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Point(</a:t>
            </a:r>
            <a:r>
              <a:rPr lang="ko-KR" altLang="en-US"/>
              <a:t>좌표</a:t>
            </a:r>
            <a:r>
              <a:rPr lang="en-US" dirty="0"/>
              <a:t> </a:t>
            </a:r>
            <a:r>
              <a:rPr lang="ko-KR" altLang="en-US"/>
              <a:t>데이터</a:t>
            </a:r>
            <a:r>
              <a:rPr lang="en-US"/>
              <a:t>) </a:t>
            </a:r>
            <a:r>
              <a:rPr lang="ko-KR" altLang="en-US"/>
              <a:t>구현</a:t>
            </a:r>
            <a:r>
              <a:rPr lang="en-US" dirty="0"/>
              <a:t> </a:t>
            </a:r>
            <a:r>
              <a:rPr lang="ko-KR" altLang="en-US"/>
              <a:t>핵심</a:t>
            </a:r>
          </a:p>
          <a:p>
            <a:endParaRPr lang="ko-KR" altLang="en-US" dirty="0">
              <a:ea typeface="+mn-lt"/>
              <a:cs typeface="+mn-lt"/>
            </a:endParaRPr>
          </a:p>
          <a:p>
            <a:endParaRPr lang="ko-KR" alt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ko-KR" altLang="en-US" sz="1600" b="1">
                <a:ea typeface="+mn-lt"/>
                <a:cs typeface="+mn-lt"/>
              </a:rPr>
              <a:t>기본</a:t>
            </a: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ko-KR" altLang="en-US" sz="1600" b="1">
                <a:ea typeface="+mn-lt"/>
                <a:cs typeface="+mn-lt"/>
              </a:rPr>
              <a:t>좌표</a:t>
            </a: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ko-KR" altLang="en-US" sz="1600" b="1">
                <a:ea typeface="+mn-lt"/>
                <a:cs typeface="+mn-lt"/>
              </a:rPr>
              <a:t>체계</a:t>
            </a: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ko-KR" altLang="en-US" sz="1600" b="1">
                <a:ea typeface="+mn-lt"/>
                <a:cs typeface="+mn-lt"/>
              </a:rPr>
              <a:t>구축</a:t>
            </a:r>
            <a:endParaRPr lang="en-US" sz="1600"/>
          </a:p>
          <a:p>
            <a:pPr marL="742950" lvl="1" indent="-285750">
              <a:buFont typeface="Arial"/>
              <a:buChar char="•"/>
            </a:pPr>
            <a:r>
              <a:rPr lang="ko-KR" altLang="en-US" sz="1600">
                <a:ea typeface="+mn-lt"/>
                <a:cs typeface="+mn-lt"/>
              </a:rPr>
              <a:t>모든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게임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객체</a:t>
            </a:r>
            <a:r>
              <a:rPr lang="en-US" sz="1600">
                <a:ea typeface="+mn-lt"/>
                <a:cs typeface="+mn-lt"/>
              </a:rPr>
              <a:t>(</a:t>
            </a:r>
            <a:r>
              <a:rPr lang="en-US" sz="1600">
                <a:latin typeface="Consolas"/>
              </a:rPr>
              <a:t>Ball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>
                <a:latin typeface="Consolas"/>
              </a:rPr>
              <a:t>Paddle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>
                <a:latin typeface="Consolas"/>
              </a:rPr>
              <a:t>Bricks</a:t>
            </a:r>
            <a:r>
              <a:rPr lang="en-US" sz="1600">
                <a:ea typeface="+mn-lt"/>
                <a:cs typeface="+mn-lt"/>
              </a:rPr>
              <a:t>)</a:t>
            </a:r>
            <a:r>
              <a:rPr lang="ko-KR" altLang="en-US" sz="1600">
                <a:ea typeface="+mn-lt"/>
                <a:cs typeface="+mn-lt"/>
              </a:rPr>
              <a:t>의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위치를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결정하는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가장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기초적인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>
                <a:latin typeface="Consolas"/>
              </a:rPr>
              <a:t>x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>
                <a:latin typeface="Consolas"/>
              </a:rPr>
              <a:t>y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평면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좌표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데이터를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정의함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 dirty="0">
              <a:cs typeface="Arial"/>
            </a:endParaRPr>
          </a:p>
          <a:p>
            <a:pPr marL="742950" lvl="1" indent="-285750">
              <a:buFont typeface="Arial"/>
              <a:buChar char="•"/>
            </a:pPr>
            <a:endParaRPr lang="en-US" altLang="ko-KR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ko-KR" altLang="en-US" sz="1600" b="1">
                <a:ea typeface="+mn-lt"/>
                <a:cs typeface="+mn-lt"/>
              </a:rPr>
              <a:t>캡슐화</a:t>
            </a: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ko-KR" altLang="en-US" sz="1600" b="1">
                <a:ea typeface="+mn-lt"/>
                <a:cs typeface="+mn-lt"/>
              </a:rPr>
              <a:t>및</a:t>
            </a: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ko-KR" altLang="en-US" sz="1600" b="1">
                <a:ea typeface="+mn-lt"/>
                <a:cs typeface="+mn-lt"/>
              </a:rPr>
              <a:t>데이터</a:t>
            </a: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ko-KR" altLang="en-US" sz="1600" b="1">
                <a:ea typeface="+mn-lt"/>
                <a:cs typeface="+mn-lt"/>
              </a:rPr>
              <a:t>접근</a:t>
            </a: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ko-KR" altLang="en-US" sz="1600" b="1">
                <a:ea typeface="+mn-lt"/>
                <a:cs typeface="+mn-lt"/>
              </a:rPr>
              <a:t>제어</a:t>
            </a:r>
            <a:endParaRPr lang="en-US" sz="1600"/>
          </a:p>
          <a:p>
            <a:pPr marL="742950" lvl="1" indent="-285750">
              <a:buFont typeface="Arial"/>
              <a:buChar char="•"/>
            </a:pPr>
            <a:r>
              <a:rPr lang="ko-KR" altLang="en-US" sz="1600">
                <a:ea typeface="+mn-lt"/>
                <a:cs typeface="+mn-lt"/>
              </a:rPr>
              <a:t>변수를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>
                <a:latin typeface="Consolas"/>
              </a:rPr>
              <a:t>private</a:t>
            </a:r>
            <a:r>
              <a:rPr lang="ko-KR" altLang="en-US" sz="1600">
                <a:ea typeface="+mn-lt"/>
                <a:cs typeface="+mn-lt"/>
              </a:rPr>
              <a:t>으로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보호하고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>
                <a:latin typeface="Consolas"/>
              </a:rPr>
              <a:t>Getter/Setter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메서드를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통해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안전하게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좌표를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수정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및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반환하도록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설계함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 dirty="0">
              <a:cs typeface="Arial"/>
            </a:endParaRPr>
          </a:p>
          <a:p>
            <a:pPr marL="742950" lvl="1" indent="-285750">
              <a:buFont typeface="Arial"/>
              <a:buChar char="•"/>
            </a:pPr>
            <a:endParaRPr lang="en-US" altLang="ko-KR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ko-KR" altLang="en-US" sz="1600" b="1">
                <a:ea typeface="+mn-lt"/>
                <a:cs typeface="+mn-lt"/>
              </a:rPr>
              <a:t>객체</a:t>
            </a: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ko-KR" altLang="en-US" sz="1600" b="1">
                <a:ea typeface="+mn-lt"/>
                <a:cs typeface="+mn-lt"/>
              </a:rPr>
              <a:t>간</a:t>
            </a: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ko-KR" altLang="en-US" sz="1600" b="1">
                <a:ea typeface="+mn-lt"/>
                <a:cs typeface="+mn-lt"/>
              </a:rPr>
              <a:t>위치</a:t>
            </a: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ko-KR" altLang="en-US" sz="1600" b="1">
                <a:ea typeface="+mn-lt"/>
                <a:cs typeface="+mn-lt"/>
              </a:rPr>
              <a:t>연산의</a:t>
            </a: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ko-KR" altLang="en-US" sz="1600" b="1">
                <a:ea typeface="+mn-lt"/>
                <a:cs typeface="+mn-lt"/>
              </a:rPr>
              <a:t>기반</a:t>
            </a:r>
            <a:endParaRPr lang="en-US" sz="1600"/>
          </a:p>
          <a:p>
            <a:pPr marL="742950" lvl="1" indent="-285750">
              <a:buFont typeface="Arial"/>
              <a:buChar char="•"/>
            </a:pPr>
            <a:r>
              <a:rPr lang="ko-KR" altLang="en-US" sz="1600">
                <a:ea typeface="+mn-lt"/>
                <a:cs typeface="+mn-lt"/>
              </a:rPr>
              <a:t>충돌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판정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및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이동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로직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시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ko-KR" altLang="en-US" sz="1600">
                <a:ea typeface="+mn-lt"/>
                <a:cs typeface="+mn-lt"/>
              </a:rPr>
              <a:t>객체의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중심점이나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시작점을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관리하는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공통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데이터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구조로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활용함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/>
          </a:p>
          <a:p>
            <a:endParaRPr lang="en-US" altLang="ko-KR" sz="1400" b="1" dirty="0"/>
          </a:p>
        </p:txBody>
      </p:sp>
      <p:pic>
        <p:nvPicPr>
          <p:cNvPr id="3" name="그림 2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BC2E97-5DBB-BDF4-2BA6-D1F70AD3A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811" y="1054554"/>
            <a:ext cx="3681005" cy="527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2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직사각형 14"/>
          <p:cNvSpPr/>
          <p:nvPr/>
        </p:nvSpPr>
        <p:spPr>
          <a:xfrm>
            <a:off x="227520" y="191880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5" name="TextBox 30"/>
          <p:cNvSpPr/>
          <p:nvPr/>
        </p:nvSpPr>
        <p:spPr>
          <a:xfrm>
            <a:off x="1127520" y="129420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endParaRPr lang="en-US" sz="1800" b="0" strike="noStrike" spc="-1" dirty="0">
              <a:latin typeface="Noto Sans CJK KR"/>
            </a:endParaRPr>
          </a:p>
        </p:txBody>
      </p:sp>
      <p:sp>
        <p:nvSpPr>
          <p:cNvPr id="127" name="직선 연결선 3"/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" name="TextBox 32"/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04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29" name="TextBox 33"/>
          <p:cNvSpPr/>
          <p:nvPr/>
        </p:nvSpPr>
        <p:spPr>
          <a:xfrm>
            <a:off x="515520" y="385200"/>
            <a:ext cx="2594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2400" b="0" strike="noStrike" spc="-1">
                <a:solidFill>
                  <a:srgbClr val="404040"/>
                </a:solidFill>
                <a:latin typeface="휴먼둥근헤드라인"/>
                <a:ea typeface="휴먼둥근헤드라인"/>
              </a:rPr>
              <a:t>프로젝트 수행 경과</a:t>
            </a:r>
            <a:endParaRPr lang="en-US" sz="2400" b="0" strike="noStrike" spc="-1">
              <a:latin typeface="Noto Sans CJK KR"/>
            </a:endParaRPr>
          </a:p>
        </p:txBody>
      </p:sp>
      <p:sp>
        <p:nvSpPr>
          <p:cNvPr id="130" name="직사각형 19"/>
          <p:cNvSpPr/>
          <p:nvPr/>
        </p:nvSpPr>
        <p:spPr>
          <a:xfrm>
            <a:off x="860005" y="1712635"/>
            <a:ext cx="54241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buNone/>
              <a:tabLst>
                <a:tab pos="408240" algn="l"/>
              </a:tabLst>
            </a:pPr>
            <a:endParaRPr lang="en-US" sz="1400" strike="noStrike" spc="-15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C3F98843-2DE8-DA67-8D19-E252973EEE68}"/>
              </a:ext>
            </a:extLst>
          </p:cNvPr>
          <p:cNvSpPr/>
          <p:nvPr/>
        </p:nvSpPr>
        <p:spPr>
          <a:xfrm>
            <a:off x="1127520" y="113545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altLang="ko-KR" b="1" spc="-100" dirty="0">
                <a:solidFill>
                  <a:srgbClr val="3B38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Ball </a:t>
            </a:r>
            <a:r>
              <a:rPr lang="ko-KR" altLang="ko-KR" b="1" spc="-100" dirty="0">
                <a:solidFill>
                  <a:srgbClr val="3B38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객체 생성하기</a:t>
            </a:r>
            <a:endParaRPr lang="en-US" altLang="ko-KR" spc="-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1">
            <a:extLst>
              <a:ext uri="{FF2B5EF4-FFF2-40B4-BE49-F238E27FC236}">
                <a16:creationId xmlns:a16="http://schemas.microsoft.com/office/drawing/2014/main" id="{9B700BEE-D64F-ADF6-332C-A89C86D853A7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3C2121-252B-7D7B-9455-BE06E1ACF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774" y="1135063"/>
            <a:ext cx="4288704" cy="40401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994BBE-C80A-4621-144F-43E21E832C54}"/>
              </a:ext>
            </a:extLst>
          </p:cNvPr>
          <p:cNvSpPr txBox="1"/>
          <p:nvPr/>
        </p:nvSpPr>
        <p:spPr>
          <a:xfrm>
            <a:off x="515939" y="1658938"/>
            <a:ext cx="661987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1. 데이터 구성 (기초 설계)</a:t>
            </a:r>
          </a:p>
          <a:p>
            <a:pPr marL="228600" indent="-228600">
              <a:buFont typeface=""/>
              <a:buChar char="•"/>
            </a:pPr>
            <a:r>
              <a:rPr lang="en-US" sz="1400" b="1"/>
              <a:t>속성:</a:t>
            </a:r>
            <a:r>
              <a:rPr lang="en-US" sz="1400"/>
              <a:t> 중심 좌표(x, y), 반지름(radius) 정의</a:t>
            </a:r>
            <a:endParaRPr lang="en-US" sz="1400" dirty="0"/>
          </a:p>
          <a:p>
            <a:pPr marL="228600" indent="-228600">
              <a:buFont typeface=""/>
              <a:buChar char="•"/>
            </a:pPr>
            <a:r>
              <a:rPr lang="en-US" sz="1400" b="1"/>
              <a:t>속도:</a:t>
            </a:r>
            <a:r>
              <a:rPr lang="en-US" sz="1400"/>
              <a:t> 가로(dx), 세로(dy) 벡터를 이용한 방향성 제어 (기본 속도: 4)</a:t>
            </a:r>
            <a:endParaRPr lang="en-US" sz="1400" dirty="0"/>
          </a:p>
          <a:p>
            <a:pPr marL="228600" indent="-228600">
              <a:buFont typeface=""/>
              <a:buChar char="•"/>
            </a:pPr>
            <a:endParaRPr lang="en-US" sz="1400" dirty="0"/>
          </a:p>
          <a:p>
            <a:r>
              <a:rPr lang="en-US" sz="1400" b="1"/>
              <a:t>2. 물리 로직 및 이동 (update)</a:t>
            </a:r>
          </a:p>
          <a:p>
            <a:pPr marL="228600" indent="-228600">
              <a:buFont typeface=""/>
              <a:buChar char="•"/>
            </a:pPr>
            <a:r>
              <a:rPr lang="en-US" sz="1400" b="1"/>
              <a:t>이동:</a:t>
            </a:r>
            <a:r>
              <a:rPr lang="en-US" sz="1400"/>
              <a:t> 매 프레임 좌표에 속도를 더해 실시간 위치 갱신</a:t>
            </a:r>
            <a:endParaRPr lang="en-US" sz="1400" dirty="0"/>
          </a:p>
          <a:p>
            <a:pPr marL="228600" indent="-228600">
              <a:buFont typeface=""/>
              <a:buChar char="•"/>
            </a:pPr>
            <a:r>
              <a:rPr lang="en-US" sz="1400" b="1"/>
              <a:t>벽 반사:</a:t>
            </a:r>
            <a:r>
              <a:rPr lang="en-US" sz="1400"/>
              <a:t> 화면 경계 접촉 시 해당 속도에 -1을 곱해 즉시 반전</a:t>
            </a:r>
            <a:endParaRPr lang="en-US" sz="1400" dirty="0"/>
          </a:p>
          <a:p>
            <a:pPr marL="228600" indent="-228600">
              <a:buFont typeface=""/>
              <a:buChar char="•"/>
            </a:pPr>
            <a:endParaRPr lang="en-US" sz="1400" dirty="0"/>
          </a:p>
          <a:p>
            <a:r>
              <a:rPr lang="en-US" sz="1400" b="1"/>
              <a:t>3. 정밀 충돌 판정 (colliding)</a:t>
            </a:r>
          </a:p>
          <a:p>
            <a:pPr marL="228600" indent="-228600">
              <a:buFont typeface=""/>
              <a:buChar char="•"/>
            </a:pPr>
            <a:r>
              <a:rPr lang="en-US" sz="1400" b="1"/>
              <a:t>AABB 알고리즘:</a:t>
            </a:r>
            <a:r>
              <a:rPr lang="en-US" sz="1400"/>
              <a:t> 공의 반지름을 포함한 4면 경계값 비교</a:t>
            </a:r>
            <a:endParaRPr lang="en-US" sz="1400" dirty="0"/>
          </a:p>
          <a:p>
            <a:pPr marL="228600" indent="-228600">
              <a:buFont typeface=""/>
              <a:buChar char="•"/>
            </a:pPr>
            <a:r>
              <a:rPr lang="en-US" sz="1400" b="1"/>
              <a:t>대상:</a:t>
            </a:r>
            <a:r>
              <a:rPr lang="en-US" sz="1400"/>
              <a:t> 패들 및 벽돌과의 교차 여부를 판정하여 정밀한 충돌 감지</a:t>
            </a:r>
            <a:endParaRPr lang="en-US" sz="1400" dirty="0"/>
          </a:p>
          <a:p>
            <a:pPr marL="228600" indent="-228600">
              <a:buFont typeface=""/>
              <a:buChar char="•"/>
            </a:pPr>
            <a:endParaRPr lang="en-US" sz="1400" dirty="0"/>
          </a:p>
          <a:p>
            <a:r>
              <a:rPr lang="en-US" sz="1400" b="1"/>
              <a:t>4. 상태 관리 및 난이도 조절</a:t>
            </a:r>
          </a:p>
          <a:p>
            <a:pPr marL="228600" indent="-228600">
              <a:buFont typeface=""/>
              <a:buChar char="•"/>
            </a:pPr>
            <a:r>
              <a:rPr lang="en-US" sz="1400" b="1"/>
              <a:t>반전/리셋:</a:t>
            </a:r>
            <a:r>
              <a:rPr lang="en-US" sz="1400"/>
              <a:t> 충돌 시 수직 속도 반전 및 데드라인 접촉 시 초기 위치 리셋</a:t>
            </a:r>
            <a:endParaRPr lang="en-US" sz="1400" dirty="0"/>
          </a:p>
          <a:p>
            <a:pPr marL="228600" indent="-228600">
              <a:buFont typeface=""/>
              <a:buChar char="•"/>
            </a:pPr>
            <a:endParaRPr lang="en-US" sz="1400" dirty="0"/>
          </a:p>
          <a:p>
            <a:pPr marL="228600" indent="-228600">
              <a:buFont typeface=""/>
              <a:buChar char="•"/>
            </a:pPr>
            <a:r>
              <a:rPr lang="en-US" sz="1400" b="1"/>
              <a:t>동적 가속:</a:t>
            </a:r>
            <a:r>
              <a:rPr lang="en-US" sz="1400"/>
              <a:t> 레벨업마다 속도를 </a:t>
            </a:r>
            <a:r>
              <a:rPr lang="en-US" sz="1400" b="1"/>
              <a:t>1.1배 가속</a:t>
            </a:r>
            <a:r>
              <a:rPr lang="en-US" sz="1400"/>
              <a:t>하여 게임 난이도 상향</a:t>
            </a:r>
            <a:endParaRPr lang="en-US" sz="1400" dirty="0"/>
          </a:p>
          <a:p>
            <a:r>
              <a:rPr lang="en-US" sz="1400" b="1"/>
              <a:t>5. 시각화 (draw)</a:t>
            </a:r>
          </a:p>
          <a:p>
            <a:pPr marL="228600" indent="-228600">
              <a:buFont typeface=""/>
              <a:buChar char="•"/>
            </a:pPr>
            <a:r>
              <a:rPr lang="en-US" sz="1400"/>
              <a:t>JavaFX를 활용해 선명한 빨간색(Color.RED) 원형 투사체 렌더링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직사각형 23"/>
          <p:cNvSpPr/>
          <p:nvPr/>
        </p:nvSpPr>
        <p:spPr>
          <a:xfrm>
            <a:off x="227520" y="191880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" name="직선 연결선 7"/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6" name="TextBox 49"/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04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37" name="TextBox 50"/>
          <p:cNvSpPr/>
          <p:nvPr/>
        </p:nvSpPr>
        <p:spPr>
          <a:xfrm>
            <a:off x="515520" y="385200"/>
            <a:ext cx="2594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2400" b="0" strike="noStrike" spc="-1">
                <a:solidFill>
                  <a:srgbClr val="404040"/>
                </a:solidFill>
                <a:latin typeface="휴먼둥근헤드라인"/>
                <a:ea typeface="휴먼둥근헤드라인"/>
              </a:rPr>
              <a:t>프로젝트 수행 경과</a:t>
            </a:r>
            <a:endParaRPr lang="en-US" sz="2400" b="0" strike="noStrike" spc="-1">
              <a:latin typeface="Noto Sans CJK KR"/>
            </a:endParaRPr>
          </a:p>
        </p:txBody>
      </p:sp>
      <p:sp>
        <p:nvSpPr>
          <p:cNvPr id="138" name="직사각형 24"/>
          <p:cNvSpPr/>
          <p:nvPr/>
        </p:nvSpPr>
        <p:spPr>
          <a:xfrm>
            <a:off x="875880" y="1823760"/>
            <a:ext cx="54241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408240" algn="l"/>
              </a:tabLst>
            </a:pPr>
            <a:r>
              <a:rPr lang="ko-KR" altLang="en-US" sz="1400" spc="-151">
                <a:latin typeface="맑은 고딕"/>
                <a:ea typeface="맑은 고딕"/>
              </a:rPr>
              <a:t>.</a:t>
            </a:r>
            <a:endParaRPr lang="ko-KR" altLang="en-US" sz="1400" spc="-151" dirty="0">
              <a:latin typeface="맑은 고딕"/>
              <a:ea typeface="맑은 고딕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71B9FB19-711F-AE65-48B2-206F7C1326CA}"/>
              </a:ext>
            </a:extLst>
          </p:cNvPr>
          <p:cNvSpPr/>
          <p:nvPr/>
        </p:nvSpPr>
        <p:spPr>
          <a:xfrm>
            <a:off x="1127520" y="113545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408240" algn="l"/>
              </a:tabLst>
            </a:pPr>
            <a:r>
              <a:rPr lang="en-US" altLang="ko-KR" b="1" spc="-100" dirty="0">
                <a:solidFill>
                  <a:srgbClr val="3B3838"/>
                </a:solidFill>
                <a:latin typeface="맑은 고딕"/>
                <a:ea typeface="맑은 고딕"/>
              </a:rPr>
              <a:t>2. Ball </a:t>
            </a:r>
            <a:r>
              <a:rPr lang="ko-KR" altLang="ko-KR" b="1" spc="-100">
                <a:solidFill>
                  <a:srgbClr val="3B3838"/>
                </a:solidFill>
                <a:latin typeface="맑은 고딕"/>
                <a:ea typeface="맑은 고딕"/>
              </a:rPr>
              <a:t>클래스 공 색칠하기</a:t>
            </a:r>
            <a:endParaRPr lang="en-US" altLang="ko-KR" spc="-1">
              <a:latin typeface="맑은 고딕"/>
              <a:ea typeface="맑은 고딕"/>
            </a:endParaRPr>
          </a:p>
        </p:txBody>
      </p:sp>
      <p:sp>
        <p:nvSpPr>
          <p:cNvPr id="3" name="TextBox 31">
            <a:extLst>
              <a:ext uri="{FF2B5EF4-FFF2-40B4-BE49-F238E27FC236}">
                <a16:creationId xmlns:a16="http://schemas.microsoft.com/office/drawing/2014/main" id="{CC77A96E-7331-2DD8-B0F7-DCB400C4C1D9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897D2A-67A3-17FD-DC23-EBD891C1C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125" y="4305300"/>
            <a:ext cx="9525000" cy="1581150"/>
          </a:xfrm>
          <a:prstGeom prst="rect">
            <a:avLst/>
          </a:prstGeom>
        </p:spPr>
      </p:pic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B2D43C-D08C-7999-14B3-7A9E4EB5E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62113"/>
            <a:ext cx="60198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8894AE-D103-3082-EA2D-72597738A2A3}"/>
              </a:ext>
            </a:extLst>
          </p:cNvPr>
          <p:cNvSpPr txBox="1"/>
          <p:nvPr/>
        </p:nvSpPr>
        <p:spPr>
          <a:xfrm>
            <a:off x="1111249" y="2920999"/>
            <a:ext cx="54848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/>
              <a:t>SetFill(Color.RED); -&gt; RE로 색을 칠함</a:t>
            </a:r>
          </a:p>
          <a:p>
            <a:r>
              <a:rPr lang="ko-KR" altLang="en-US"/>
              <a:t>FillOval로  타원을 가로 세로를 같게 하여 원을 생성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직사각형 18"/>
          <p:cNvSpPr/>
          <p:nvPr/>
        </p:nvSpPr>
        <p:spPr>
          <a:xfrm>
            <a:off x="227520" y="191880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3" name="직선 연결선 5"/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4" name="TextBox 41"/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04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45" name="TextBox 42"/>
          <p:cNvSpPr/>
          <p:nvPr/>
        </p:nvSpPr>
        <p:spPr>
          <a:xfrm>
            <a:off x="515520" y="385200"/>
            <a:ext cx="2594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2400" b="0" strike="noStrike" spc="-1">
                <a:solidFill>
                  <a:srgbClr val="404040"/>
                </a:solidFill>
                <a:latin typeface="휴먼둥근헤드라인"/>
                <a:ea typeface="휴먼둥근헤드라인"/>
              </a:rPr>
              <a:t>프로젝트 수행 경과</a:t>
            </a:r>
            <a:endParaRPr lang="en-US" sz="2400" b="0" strike="noStrike" spc="-1">
              <a:latin typeface="Noto Sans CJK KR"/>
            </a:endParaRPr>
          </a:p>
        </p:txBody>
      </p:sp>
      <p:sp>
        <p:nvSpPr>
          <p:cNvPr id="146" name="직사각형 20"/>
          <p:cNvSpPr/>
          <p:nvPr/>
        </p:nvSpPr>
        <p:spPr>
          <a:xfrm>
            <a:off x="328193" y="1498323"/>
            <a:ext cx="5569370" cy="4245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buNone/>
              <a:tabLst>
                <a:tab pos="408240" algn="l"/>
              </a:tabLst>
            </a:pPr>
            <a:endParaRPr lang="en-US" sz="1400" strike="noStrike" spc="-151" dirty="0">
              <a:latin typeface="맑은 고딕"/>
              <a:ea typeface="맑은 고딕"/>
            </a:endParaRPr>
          </a:p>
          <a:p>
            <a:pPr>
              <a:tabLst>
                <a:tab pos="408240" algn="l"/>
              </a:tabLst>
            </a:pPr>
            <a:r>
              <a:rPr lang="en-US"/>
              <a:t>️</a:t>
            </a:r>
            <a:r>
              <a:rPr lang="en-US" sz="1400" b="1" spc="-1">
                <a:ea typeface="+mn-lt"/>
                <a:cs typeface="+mn-lt"/>
              </a:rPr>
              <a:t>1.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게임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상태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관리</a:t>
            </a:r>
            <a:r>
              <a:rPr lang="en-US" sz="1400" b="1" spc="-1">
                <a:ea typeface="+mn-lt"/>
                <a:cs typeface="+mn-lt"/>
              </a:rPr>
              <a:t> (</a:t>
            </a:r>
            <a:r>
              <a:rPr lang="ko-KR" altLang="en-US" sz="1400" b="1" spc="-1">
                <a:ea typeface="+mn-lt"/>
                <a:cs typeface="+mn-lt"/>
              </a:rPr>
              <a:t>멤버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변수</a:t>
            </a:r>
            <a:r>
              <a:rPr lang="en-US" sz="1400" b="1" spc="-1">
                <a:ea typeface="+mn-lt"/>
                <a:cs typeface="+mn-lt"/>
              </a:rPr>
              <a:t>)</a:t>
            </a:r>
            <a:endParaRPr lang="en-US" altLang="ko-KR"/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400" b="1" spc="-1">
                <a:ea typeface="+mn-lt"/>
                <a:cs typeface="+mn-lt"/>
              </a:rPr>
              <a:t>데이터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관리</a:t>
            </a:r>
            <a:r>
              <a:rPr lang="en-US" sz="1400" b="1" spc="-1">
                <a:ea typeface="+mn-lt"/>
                <a:cs typeface="+mn-lt"/>
              </a:rPr>
              <a:t>:</a:t>
            </a:r>
            <a:r>
              <a:rPr lang="en-US" sz="1400" spc="-1" dirty="0">
                <a:ea typeface="+mn-lt"/>
                <a:cs typeface="+mn-lt"/>
              </a:rPr>
              <a:t> </a:t>
            </a:r>
            <a:r>
              <a:rPr lang="en-US" sz="1400" spc="-1">
                <a:latin typeface="Consolas"/>
                <a:ea typeface="맑은 고딕"/>
              </a:rPr>
              <a:t>score</a:t>
            </a:r>
            <a:r>
              <a:rPr lang="en-US" sz="1400" spc="-1">
                <a:ea typeface="+mn-lt"/>
                <a:cs typeface="+mn-lt"/>
              </a:rPr>
              <a:t>(</a:t>
            </a:r>
            <a:r>
              <a:rPr lang="ko-KR" altLang="en-US" sz="1400" spc="-1">
                <a:ea typeface="+mn-lt"/>
                <a:cs typeface="+mn-lt"/>
              </a:rPr>
              <a:t>점수</a:t>
            </a:r>
            <a:r>
              <a:rPr lang="en-US" sz="1400" spc="-1">
                <a:ea typeface="+mn-lt"/>
                <a:cs typeface="+mn-lt"/>
              </a:rPr>
              <a:t>), </a:t>
            </a:r>
            <a:r>
              <a:rPr lang="en-US" sz="1400" spc="-1">
                <a:latin typeface="Consolas"/>
                <a:ea typeface="맑은 고딕"/>
              </a:rPr>
              <a:t>life</a:t>
            </a:r>
            <a:r>
              <a:rPr lang="en-US" sz="1400" spc="-1">
                <a:ea typeface="+mn-lt"/>
                <a:cs typeface="+mn-lt"/>
              </a:rPr>
              <a:t>(</a:t>
            </a:r>
            <a:r>
              <a:rPr lang="ko-KR" altLang="en-US" sz="1400" spc="-1">
                <a:ea typeface="+mn-lt"/>
                <a:cs typeface="+mn-lt"/>
              </a:rPr>
              <a:t>생명</a:t>
            </a:r>
            <a:r>
              <a:rPr lang="en-US" sz="1400" spc="-1">
                <a:ea typeface="+mn-lt"/>
                <a:cs typeface="+mn-lt"/>
              </a:rPr>
              <a:t>), </a:t>
            </a:r>
            <a:r>
              <a:rPr lang="en-US" sz="1400" spc="-1">
                <a:latin typeface="Consolas"/>
                <a:ea typeface="맑은 고딕"/>
              </a:rPr>
              <a:t>level</a:t>
            </a:r>
            <a:r>
              <a:rPr lang="en-US" sz="1400" spc="-1">
                <a:ea typeface="+mn-lt"/>
                <a:cs typeface="+mn-lt"/>
              </a:rPr>
              <a:t>(</a:t>
            </a:r>
            <a:r>
              <a:rPr lang="ko-KR" altLang="en-US" sz="1400" spc="-1">
                <a:ea typeface="+mn-lt"/>
                <a:cs typeface="+mn-lt"/>
              </a:rPr>
              <a:t>단계</a:t>
            </a:r>
            <a:r>
              <a:rPr lang="en-US" sz="1400" spc="-1">
                <a:ea typeface="+mn-lt"/>
                <a:cs typeface="+mn-lt"/>
              </a:rPr>
              <a:t>)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변수를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선언하여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실시간으로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게임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데이터를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추적하고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관리함</a:t>
            </a:r>
            <a:r>
              <a:rPr lang="en-US" sz="1400" spc="-1">
                <a:ea typeface="+mn-lt"/>
                <a:cs typeface="+mn-lt"/>
              </a:rPr>
              <a:t>.</a:t>
            </a:r>
            <a:endParaRPr lang="en-US" altLang="ko-KR"/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400" b="1" spc="-1">
                <a:ea typeface="+mn-lt"/>
                <a:cs typeface="+mn-lt"/>
              </a:rPr>
              <a:t>초기화</a:t>
            </a:r>
            <a:r>
              <a:rPr lang="en-US" sz="1400" b="1" spc="-1">
                <a:ea typeface="+mn-lt"/>
                <a:cs typeface="+mn-lt"/>
              </a:rPr>
              <a:t>: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점수는</a:t>
            </a:r>
            <a:r>
              <a:rPr lang="en-US" sz="1400" spc="-1">
                <a:ea typeface="+mn-lt"/>
                <a:cs typeface="+mn-lt"/>
              </a:rPr>
              <a:t> 0,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생명은</a:t>
            </a:r>
            <a:r>
              <a:rPr lang="en-US" sz="1400" spc="-1">
                <a:ea typeface="+mn-lt"/>
                <a:cs typeface="+mn-lt"/>
              </a:rPr>
              <a:t> 3,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레벨은</a:t>
            </a:r>
            <a:r>
              <a:rPr lang="en-US" sz="1400" spc="-1">
                <a:ea typeface="+mn-lt"/>
                <a:cs typeface="+mn-lt"/>
              </a:rPr>
              <a:t> 1</a:t>
            </a:r>
            <a:r>
              <a:rPr lang="ko-KR" altLang="en-US" sz="1400" spc="-1">
                <a:ea typeface="+mn-lt"/>
                <a:cs typeface="+mn-lt"/>
              </a:rPr>
              <a:t>에서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시작하도록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기본값을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설정함</a:t>
            </a:r>
            <a:r>
              <a:rPr lang="en-US" sz="1400" spc="-1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endParaRPr lang="en-US" sz="1400" spc="-1" dirty="0">
              <a:ea typeface="+mn-lt"/>
              <a:cs typeface="+mn-lt"/>
            </a:endParaRPr>
          </a:p>
          <a:p>
            <a:pPr>
              <a:tabLst>
                <a:tab pos="408240" algn="l"/>
              </a:tabLst>
            </a:pPr>
            <a:r>
              <a:rPr lang="en-US" sz="1400" b="1" spc="-1">
                <a:ea typeface="+mn-lt"/>
                <a:cs typeface="+mn-lt"/>
              </a:rPr>
              <a:t>2. JavaFX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기반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환경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설정</a:t>
            </a:r>
            <a:r>
              <a:rPr lang="en-US" sz="1400" b="1" spc="-1">
                <a:ea typeface="+mn-lt"/>
                <a:cs typeface="+mn-lt"/>
              </a:rPr>
              <a:t> (</a:t>
            </a:r>
            <a:r>
              <a:rPr lang="en-US" sz="1400" b="1" spc="-1">
                <a:latin typeface="Consolas"/>
                <a:ea typeface="맑은 고딕"/>
              </a:rPr>
              <a:t>start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메서드</a:t>
            </a:r>
            <a:r>
              <a:rPr lang="en-US" sz="1400" b="1" spc="-1">
                <a:ea typeface="+mn-lt"/>
                <a:cs typeface="+mn-lt"/>
              </a:rPr>
              <a:t>)</a:t>
            </a:r>
            <a:endParaRPr lang="en-US" altLang="ko-KR"/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400" b="1" spc="-1">
                <a:ea typeface="+mn-lt"/>
                <a:cs typeface="+mn-lt"/>
              </a:rPr>
              <a:t>캔버스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레이아웃</a:t>
            </a:r>
            <a:r>
              <a:rPr lang="en-US" sz="1400" b="1" spc="-1">
                <a:ea typeface="+mn-lt"/>
                <a:cs typeface="+mn-lt"/>
              </a:rPr>
              <a:t>:</a:t>
            </a:r>
            <a:r>
              <a:rPr lang="en-US" sz="1400" spc="-1">
                <a:ea typeface="+mn-lt"/>
                <a:cs typeface="+mn-lt"/>
              </a:rPr>
              <a:t> 800x600</a:t>
            </a:r>
            <a:r>
              <a:rPr lang="en-US" altLang="ko-KR" sz="1400" spc="-1" dirty="0">
                <a:ea typeface="+mn-lt"/>
                <a:cs typeface="+mn-lt"/>
              </a:rPr>
              <a:t> </a:t>
            </a:r>
            <a:r>
              <a:rPr lang="en-US" sz="1400" spc="-1" dirty="0">
                <a:ea typeface="+mn-lt"/>
                <a:cs typeface="+mn-lt"/>
              </a:rPr>
              <a:t> </a:t>
            </a:r>
            <a:endParaRPr lang="en-US" altLang="ko-KR">
              <a:latin typeface="Arial"/>
              <a:ea typeface="맑은 고딕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en-US" sz="1400" spc="-1">
                <a:latin typeface="Consolas"/>
                <a:ea typeface="맑은 고딕"/>
              </a:rPr>
              <a:t>GraphicsContext</a:t>
            </a:r>
            <a:r>
              <a:rPr lang="ko-KR" altLang="en-US" sz="1400" spc="-1">
                <a:ea typeface="+mn-lt"/>
                <a:cs typeface="+mn-lt"/>
              </a:rPr>
              <a:t>를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통해</a:t>
            </a:r>
            <a:r>
              <a:rPr lang="en-US" altLang="ko-KR" sz="1400" spc="-1">
                <a:ea typeface="+mn-lt"/>
                <a:cs typeface="+mn-lt"/>
              </a:rPr>
              <a:t> 2D 환경</a:t>
            </a:r>
            <a:endParaRPr lang="ko-KR" altLang="en-US" sz="1400" spc="-1"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400" b="1" spc="-1">
                <a:ea typeface="+mn-lt"/>
                <a:cs typeface="+mn-lt"/>
              </a:rPr>
              <a:t>객체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생성</a:t>
            </a:r>
            <a:r>
              <a:rPr lang="en-US" sz="1400" b="1" spc="-1">
                <a:ea typeface="+mn-lt"/>
                <a:cs typeface="+mn-lt"/>
              </a:rPr>
              <a:t>: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게임의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주인공인</a:t>
            </a:r>
            <a:r>
              <a:rPr lang="en-US" sz="1400" spc="-1" dirty="0">
                <a:ea typeface="+mn-lt"/>
                <a:cs typeface="+mn-lt"/>
              </a:rPr>
              <a:t> </a:t>
            </a:r>
            <a:r>
              <a:rPr lang="en-US" sz="1400" spc="-1">
                <a:latin typeface="Consolas"/>
                <a:ea typeface="맑은 고딕"/>
              </a:rPr>
              <a:t>Ball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객체를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중심부</a:t>
            </a:r>
            <a:r>
              <a:rPr lang="en-US" sz="1400" spc="-1">
                <a:ea typeface="+mn-lt"/>
                <a:cs typeface="+mn-lt"/>
              </a:rPr>
              <a:t>(400, 300)</a:t>
            </a:r>
            <a:r>
              <a:rPr lang="ko-KR" altLang="en-US" sz="1400" spc="-1">
                <a:ea typeface="+mn-lt"/>
                <a:cs typeface="+mn-lt"/>
              </a:rPr>
              <a:t>에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endParaRPr lang="en-US" altLang="ko-K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400" spc="-1">
                <a:ea typeface="+mn-lt"/>
                <a:cs typeface="+mn-lt"/>
              </a:rPr>
              <a:t>반지름</a:t>
            </a:r>
            <a:r>
              <a:rPr lang="en-US" sz="1400" spc="-1">
                <a:ea typeface="+mn-lt"/>
                <a:cs typeface="+mn-lt"/>
              </a:rPr>
              <a:t> 10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크기로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생성하여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게임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월드를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구성함</a:t>
            </a:r>
            <a:r>
              <a:rPr lang="en-US" sz="1400" spc="-1" dirty="0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endParaRPr lang="en-US" sz="1400" spc="-1" dirty="0">
              <a:ea typeface="+mn-lt"/>
              <a:cs typeface="+mn-lt"/>
            </a:endParaRPr>
          </a:p>
          <a:p>
            <a:pPr>
              <a:tabLst>
                <a:tab pos="408240" algn="l"/>
              </a:tabLst>
            </a:pPr>
            <a:r>
              <a:rPr lang="en-US" sz="1400" b="1" spc="-1">
                <a:ea typeface="+mn-lt"/>
                <a:cs typeface="+mn-lt"/>
              </a:rPr>
              <a:t>3.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사용자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인터랙션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및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화면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구성</a:t>
            </a:r>
            <a:endParaRPr lang="en-US" altLang="ko-KR"/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400" b="1" spc="-1">
                <a:ea typeface="+mn-lt"/>
                <a:cs typeface="+mn-lt"/>
              </a:rPr>
              <a:t>레이아웃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계층</a:t>
            </a:r>
            <a:r>
              <a:rPr lang="en-US" sz="1400" b="1" spc="-1">
                <a:ea typeface="+mn-lt"/>
                <a:cs typeface="+mn-lt"/>
              </a:rPr>
              <a:t>:</a:t>
            </a:r>
            <a:r>
              <a:rPr lang="en-US" sz="1400" spc="-1" dirty="0">
                <a:ea typeface="+mn-lt"/>
                <a:cs typeface="+mn-lt"/>
              </a:rPr>
              <a:t> </a:t>
            </a:r>
            <a:r>
              <a:rPr lang="en-US" sz="1400" spc="-1">
                <a:latin typeface="Consolas"/>
                <a:ea typeface="맑은 고딕"/>
              </a:rPr>
              <a:t>Pane</a:t>
            </a:r>
            <a:r>
              <a:rPr lang="ko-KR" altLang="en-US" sz="1400" spc="-1">
                <a:ea typeface="+mn-lt"/>
                <a:cs typeface="+mn-lt"/>
              </a:rPr>
              <a:t>을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루트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노드로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설정하고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캔버스를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추가하여</a:t>
            </a:r>
            <a:r>
              <a:rPr lang="en-US" sz="1400" spc="-1" dirty="0">
                <a:ea typeface="+mn-lt"/>
                <a:cs typeface="+mn-lt"/>
              </a:rPr>
              <a:t> </a:t>
            </a:r>
            <a:r>
              <a:rPr lang="en-US" sz="1400" spc="-1">
                <a:ea typeface="+mn-lt"/>
                <a:cs typeface="+mn-lt"/>
              </a:rPr>
              <a:t>JavaFX</a:t>
            </a:r>
            <a:r>
              <a:rPr lang="ko-KR" altLang="en-US" sz="1400" spc="-1">
                <a:ea typeface="+mn-lt"/>
                <a:cs typeface="+mn-lt"/>
              </a:rPr>
              <a:t>의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시각적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계층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구조를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완성함</a:t>
            </a:r>
            <a:r>
              <a:rPr lang="en-US" sz="1400" spc="-1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400" b="1" spc="-1">
                <a:ea typeface="+mn-lt"/>
                <a:cs typeface="+mn-lt"/>
              </a:rPr>
              <a:t>씬</a:t>
            </a:r>
            <a:r>
              <a:rPr lang="en-US" sz="1400" b="1" spc="-1">
                <a:ea typeface="+mn-lt"/>
                <a:cs typeface="+mn-lt"/>
              </a:rPr>
              <a:t>(Scene)</a:t>
            </a:r>
            <a:r>
              <a:rPr lang="en-US" altLang="ko-KR" sz="1400" b="1" spc="-1" dirty="0">
                <a:ea typeface="+mn-lt"/>
                <a:cs typeface="+mn-lt"/>
              </a:rPr>
              <a:t> </a:t>
            </a:r>
            <a:r>
              <a:rPr lang="ko-KR" altLang="en-US" sz="1400" b="1" spc="-1">
                <a:ea typeface="+mn-lt"/>
                <a:cs typeface="+mn-lt"/>
              </a:rPr>
              <a:t>생성</a:t>
            </a:r>
            <a:r>
              <a:rPr lang="en-US" sz="1400" b="1" spc="-1">
                <a:ea typeface="+mn-lt"/>
                <a:cs typeface="+mn-lt"/>
              </a:rPr>
              <a:t>: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설정된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레이아웃을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바탕으로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사용자에게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보여질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최종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게임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화면</a:t>
            </a:r>
            <a:r>
              <a:rPr lang="en-US" sz="1400" spc="-1">
                <a:ea typeface="+mn-lt"/>
                <a:cs typeface="+mn-lt"/>
              </a:rPr>
              <a:t>(</a:t>
            </a:r>
            <a:r>
              <a:rPr lang="en-US" sz="1400" spc="-1">
                <a:latin typeface="Consolas"/>
                <a:ea typeface="맑은 고딕"/>
                <a:cs typeface="Arial"/>
              </a:rPr>
              <a:t>Scene</a:t>
            </a:r>
            <a:r>
              <a:rPr lang="en-US" sz="1400" spc="-1">
                <a:ea typeface="+mn-lt"/>
                <a:cs typeface="+mn-lt"/>
              </a:rPr>
              <a:t>)</a:t>
            </a:r>
            <a:r>
              <a:rPr lang="ko-KR" altLang="en-US" sz="1400" spc="-1">
                <a:ea typeface="+mn-lt"/>
                <a:cs typeface="+mn-lt"/>
              </a:rPr>
              <a:t>을</a:t>
            </a:r>
            <a:r>
              <a:rPr lang="en-US" altLang="ko-KR" sz="1400" spc="-1" dirty="0">
                <a:ea typeface="+mn-lt"/>
                <a:cs typeface="+mn-lt"/>
              </a:rPr>
              <a:t> </a:t>
            </a:r>
            <a:r>
              <a:rPr lang="ko-KR" altLang="en-US" sz="1400" spc="-1">
                <a:ea typeface="+mn-lt"/>
                <a:cs typeface="+mn-lt"/>
              </a:rPr>
              <a:t>생성함</a:t>
            </a:r>
            <a:r>
              <a:rPr lang="en-US" sz="1400" spc="-1">
                <a:ea typeface="+mn-lt"/>
                <a:cs typeface="+mn-lt"/>
              </a:rPr>
              <a:t>.</a:t>
            </a:r>
            <a:endParaRPr lang="en-US" sz="1400" spc="-1" dirty="0">
              <a:latin typeface="Arial"/>
              <a:ea typeface="맑은 고딕" panose="020B0503020000020004" pitchFamily="50" charset="-127"/>
              <a:cs typeface="Arial"/>
            </a:endParaRPr>
          </a:p>
          <a:p>
            <a:pPr>
              <a:tabLst>
                <a:tab pos="408240" algn="l"/>
              </a:tabLst>
            </a:pPr>
            <a:endParaRPr lang="en-US" sz="1400" spc="-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CE71FDB9-B357-C24C-96AB-BF84CAB554D9}"/>
              </a:ext>
            </a:extLst>
          </p:cNvPr>
          <p:cNvSpPr/>
          <p:nvPr/>
        </p:nvSpPr>
        <p:spPr>
          <a:xfrm>
            <a:off x="1127520" y="1135450"/>
            <a:ext cx="74160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altLang="ko-KR" b="1" spc="-100" dirty="0">
                <a:solidFill>
                  <a:srgbClr val="3B3838"/>
                </a:solidFill>
                <a:latin typeface="맑은 고딕"/>
                <a:ea typeface="맑은 고딕"/>
              </a:rPr>
              <a:t>3. Main </a:t>
            </a:r>
            <a:r>
              <a:rPr lang="ko-KR" altLang="ko-KR" b="1" spc="-100">
                <a:solidFill>
                  <a:srgbClr val="3B3838"/>
                </a:solidFill>
                <a:latin typeface="맑은 고딕"/>
                <a:ea typeface="맑은 고딕"/>
              </a:rPr>
              <a:t>클래스</a:t>
            </a:r>
          </a:p>
        </p:txBody>
      </p:sp>
      <p:sp>
        <p:nvSpPr>
          <p:cNvPr id="3" name="TextBox 31">
            <a:extLst>
              <a:ext uri="{FF2B5EF4-FFF2-40B4-BE49-F238E27FC236}">
                <a16:creationId xmlns:a16="http://schemas.microsoft.com/office/drawing/2014/main" id="{4E5C5282-4209-D1C3-4E87-86E5F105EE87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D5C59A-ABDF-FACF-76AE-09035C963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650" y="1077913"/>
            <a:ext cx="5672138" cy="41544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직사각형 21"/>
          <p:cNvSpPr/>
          <p:nvPr/>
        </p:nvSpPr>
        <p:spPr>
          <a:xfrm>
            <a:off x="227520" y="191880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9" name="TextBox 43"/>
          <p:cNvSpPr/>
          <p:nvPr/>
        </p:nvSpPr>
        <p:spPr>
          <a:xfrm>
            <a:off x="1127520" y="1294200"/>
            <a:ext cx="55324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endParaRPr lang="en-US" sz="1800" b="0" strike="noStrike" spc="-1" dirty="0">
              <a:latin typeface="Noto Sans CJK KR"/>
            </a:endParaRPr>
          </a:p>
        </p:txBody>
      </p:sp>
      <p:sp>
        <p:nvSpPr>
          <p:cNvPr id="151" name="직선 연결선 6"/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2" name="TextBox 45"/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04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53" name="TextBox 46"/>
          <p:cNvSpPr/>
          <p:nvPr/>
        </p:nvSpPr>
        <p:spPr>
          <a:xfrm>
            <a:off x="515520" y="385200"/>
            <a:ext cx="2594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2400" b="0" strike="noStrike" spc="-1">
                <a:solidFill>
                  <a:srgbClr val="404040"/>
                </a:solidFill>
                <a:latin typeface="휴먼둥근헤드라인"/>
                <a:ea typeface="휴먼둥근헤드라인"/>
              </a:rPr>
              <a:t>프로젝트 수행 경과</a:t>
            </a:r>
            <a:endParaRPr lang="en-US" sz="2400" b="0" strike="noStrike" spc="-1">
              <a:latin typeface="Noto Sans CJK KR"/>
            </a:endParaRPr>
          </a:p>
        </p:txBody>
      </p:sp>
      <p:sp>
        <p:nvSpPr>
          <p:cNvPr id="154" name="직사각형 22"/>
          <p:cNvSpPr/>
          <p:nvPr/>
        </p:nvSpPr>
        <p:spPr>
          <a:xfrm>
            <a:off x="669505" y="1768198"/>
            <a:ext cx="5424120" cy="3968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408240" algn="l"/>
              </a:tabLst>
            </a:pPr>
            <a:r>
              <a:rPr lang="en-US" sz="1400" strike="noStrike" spc="-151" dirty="0">
                <a:latin typeface="맑은 고딕"/>
                <a:ea typeface="맑은 고딕"/>
              </a:rPr>
              <a:t> </a:t>
            </a:r>
            <a:r>
              <a:rPr lang="en-US" sz="1400" b="1" spc="-151">
                <a:ea typeface="+mn-lt"/>
                <a:cs typeface="+mn-lt"/>
              </a:rPr>
              <a:t>[ </a:t>
            </a:r>
            <a:r>
              <a:rPr lang="ko-KR" altLang="en-US" sz="1400" b="1" spc="-151">
                <a:ea typeface="+mn-lt"/>
                <a:cs typeface="+mn-lt"/>
              </a:rPr>
              <a:t>객체의</a:t>
            </a:r>
            <a:r>
              <a:rPr lang="en-US" sz="1400" b="1" spc="-151" dirty="0">
                <a:ea typeface="+mn-lt"/>
                <a:cs typeface="+mn-lt"/>
              </a:rPr>
              <a:t> </a:t>
            </a:r>
            <a:r>
              <a:rPr lang="ko-KR" altLang="en-US" sz="1400" b="1" spc="-151">
                <a:ea typeface="+mn-lt"/>
                <a:cs typeface="+mn-lt"/>
              </a:rPr>
              <a:t>표준화를</a:t>
            </a:r>
            <a:r>
              <a:rPr lang="en-US" sz="1400" b="1" spc="-151" dirty="0">
                <a:ea typeface="+mn-lt"/>
                <a:cs typeface="+mn-lt"/>
              </a:rPr>
              <a:t> </a:t>
            </a:r>
            <a:r>
              <a:rPr lang="ko-KR" altLang="en-US" sz="1400" b="1" spc="-151">
                <a:ea typeface="+mn-lt"/>
                <a:cs typeface="+mn-lt"/>
              </a:rPr>
              <a:t>위한</a:t>
            </a:r>
            <a:r>
              <a:rPr lang="en-US" sz="1400" b="1" spc="-151">
                <a:ea typeface="+mn-lt"/>
                <a:cs typeface="+mn-lt"/>
              </a:rPr>
              <a:t> Paintable </a:t>
            </a:r>
            <a:r>
              <a:rPr lang="ko-KR" altLang="en-US" sz="1400" b="1" spc="-151">
                <a:ea typeface="+mn-lt"/>
                <a:cs typeface="+mn-lt"/>
              </a:rPr>
              <a:t>인터페이스</a:t>
            </a:r>
            <a:r>
              <a:rPr lang="en-US" sz="1400" b="1" spc="-151" dirty="0">
                <a:ea typeface="+mn-lt"/>
                <a:cs typeface="+mn-lt"/>
              </a:rPr>
              <a:t> </a:t>
            </a:r>
            <a:r>
              <a:rPr lang="ko-KR" altLang="en-US" sz="1400" b="1" spc="-151">
                <a:ea typeface="+mn-lt"/>
                <a:cs typeface="+mn-lt"/>
              </a:rPr>
              <a:t>구현</a:t>
            </a:r>
            <a:r>
              <a:rPr lang="en-US" sz="1400" b="1" spc="-151">
                <a:ea typeface="+mn-lt"/>
                <a:cs typeface="+mn-lt"/>
              </a:rPr>
              <a:t> ]</a:t>
            </a:r>
            <a:endParaRPr lang="ko-KR" altLang="en-US" sz="1400" spc="-151">
              <a:latin typeface="맑은 고딕"/>
              <a:ea typeface="맑은 고딕"/>
            </a:endParaRPr>
          </a:p>
          <a:p>
            <a:pPr>
              <a:tabLst>
                <a:tab pos="408240" algn="l"/>
              </a:tabLst>
            </a:pPr>
            <a:endParaRPr lang="en-US" altLang="ko-KR" sz="1400" b="1" spc="-15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400" b="1" spc="-151">
                <a:ea typeface="+mn-lt"/>
                <a:cs typeface="+mn-lt"/>
              </a:rPr>
              <a:t>인터페이스</a:t>
            </a:r>
            <a:r>
              <a:rPr lang="en-US" sz="1400" b="1" spc="-151" dirty="0">
                <a:ea typeface="+mn-lt"/>
                <a:cs typeface="+mn-lt"/>
              </a:rPr>
              <a:t> </a:t>
            </a:r>
            <a:r>
              <a:rPr lang="ko-KR" altLang="en-US" sz="1400" b="1" spc="-151">
                <a:ea typeface="+mn-lt"/>
                <a:cs typeface="+mn-lt"/>
              </a:rPr>
              <a:t>정의</a:t>
            </a:r>
            <a:r>
              <a:rPr lang="en-US" sz="1400" b="1" spc="-151" dirty="0">
                <a:ea typeface="+mn-lt"/>
                <a:cs typeface="+mn-lt"/>
              </a:rPr>
              <a:t> </a:t>
            </a:r>
            <a:r>
              <a:rPr lang="ko-KR" altLang="en-US" sz="1400" b="1" spc="-151">
                <a:ea typeface="+mn-lt"/>
                <a:cs typeface="+mn-lt"/>
              </a:rPr>
              <a:t>및</a:t>
            </a:r>
            <a:r>
              <a:rPr lang="en-US" sz="1400" b="1" spc="-151" dirty="0">
                <a:ea typeface="+mn-lt"/>
                <a:cs typeface="+mn-lt"/>
              </a:rPr>
              <a:t> </a:t>
            </a:r>
            <a:r>
              <a:rPr lang="ko-KR" altLang="en-US" sz="1400" b="1" spc="-151">
                <a:ea typeface="+mn-lt"/>
                <a:cs typeface="+mn-lt"/>
              </a:rPr>
              <a:t>목적</a:t>
            </a:r>
            <a:endParaRPr lang="en-US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400" spc="-151">
                <a:ea typeface="+mn-lt"/>
                <a:cs typeface="+mn-lt"/>
              </a:rPr>
              <a:t>화면에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그려질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수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있는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모든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객체들의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공통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기능을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정의하기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위해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en-US" sz="1400" spc="-151">
                <a:latin typeface="Consolas"/>
                <a:ea typeface="맑은 고딕"/>
              </a:rPr>
              <a:t>Paintable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인터페이스를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작성함</a:t>
            </a:r>
            <a:r>
              <a:rPr lang="en-US" sz="1400" spc="-151">
                <a:ea typeface="+mn-lt"/>
                <a:cs typeface="+mn-lt"/>
              </a:rPr>
              <a:t>.</a:t>
            </a:r>
            <a:endParaRPr lang="en-US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400" spc="-151">
                <a:ea typeface="+mn-lt"/>
                <a:cs typeface="+mn-lt"/>
              </a:rPr>
              <a:t>모든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그래픽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객체가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동일한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메서드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형식을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갖도록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강제하여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코드의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일관성을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확보함</a:t>
            </a:r>
            <a:r>
              <a:rPr lang="en-US" sz="1400" spc="-151">
                <a:ea typeface="+mn-lt"/>
                <a:cs typeface="+mn-lt"/>
              </a:rPr>
              <a:t>.</a:t>
            </a:r>
            <a:endParaRPr lang="en-US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endParaRPr lang="en-US" altLang="ko-KR" sz="1400" spc="-15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400" b="1" spc="-151">
                <a:ea typeface="+mn-lt"/>
                <a:cs typeface="+mn-lt"/>
              </a:rPr>
              <a:t>추상</a:t>
            </a:r>
            <a:r>
              <a:rPr lang="en-US" sz="1400" b="1" spc="-151" dirty="0">
                <a:ea typeface="+mn-lt"/>
                <a:cs typeface="+mn-lt"/>
              </a:rPr>
              <a:t> </a:t>
            </a:r>
            <a:r>
              <a:rPr lang="ko-KR" altLang="en-US" sz="1400" b="1" spc="-151">
                <a:ea typeface="+mn-lt"/>
                <a:cs typeface="+mn-lt"/>
              </a:rPr>
              <a:t>메서드</a:t>
            </a:r>
            <a:r>
              <a:rPr lang="en-US" sz="1400" b="1" spc="-151" dirty="0">
                <a:ea typeface="+mn-lt"/>
                <a:cs typeface="+mn-lt"/>
              </a:rPr>
              <a:t> </a:t>
            </a:r>
            <a:r>
              <a:rPr lang="ko-KR" altLang="en-US" sz="1400" b="1" spc="-151">
                <a:ea typeface="+mn-lt"/>
                <a:cs typeface="+mn-lt"/>
              </a:rPr>
              <a:t>선언</a:t>
            </a:r>
            <a:r>
              <a:rPr lang="en-US" sz="1400" b="1" spc="-151">
                <a:ea typeface="+mn-lt"/>
                <a:cs typeface="+mn-lt"/>
              </a:rPr>
              <a:t> (</a:t>
            </a:r>
            <a:r>
              <a:rPr lang="en-US" sz="1400" b="1" spc="-151">
                <a:latin typeface="Consolas"/>
                <a:ea typeface="맑은 고딕"/>
              </a:rPr>
              <a:t>draw</a:t>
            </a:r>
            <a:r>
              <a:rPr lang="en-US" sz="1400" b="1" spc="-151" dirty="0">
                <a:ea typeface="+mn-lt"/>
                <a:cs typeface="+mn-lt"/>
              </a:rPr>
              <a:t> </a:t>
            </a:r>
            <a:r>
              <a:rPr lang="ko-KR" altLang="en-US" sz="1400" b="1" spc="-151">
                <a:ea typeface="+mn-lt"/>
                <a:cs typeface="+mn-lt"/>
              </a:rPr>
              <a:t>메서드</a:t>
            </a:r>
            <a:r>
              <a:rPr lang="en-US" sz="1400" b="1" spc="-151">
                <a:ea typeface="+mn-lt"/>
                <a:cs typeface="+mn-lt"/>
              </a:rPr>
              <a:t>)</a:t>
            </a:r>
            <a:endParaRPr lang="en-US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r>
              <a:rPr lang="en-US" sz="1400" spc="-151">
                <a:latin typeface="Consolas"/>
                <a:ea typeface="맑은 고딕"/>
              </a:rPr>
              <a:t>public void draw(GraphicsContext gc)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메서드를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선언하여</a:t>
            </a:r>
            <a:r>
              <a:rPr lang="en-US" sz="1400" spc="-151">
                <a:ea typeface="+mn-lt"/>
                <a:cs typeface="+mn-lt"/>
              </a:rPr>
              <a:t>, </a:t>
            </a:r>
            <a:r>
              <a:rPr lang="ko-KR" altLang="en-US" sz="1400" spc="-151">
                <a:ea typeface="+mn-lt"/>
                <a:cs typeface="+mn-lt"/>
              </a:rPr>
              <a:t>각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객체가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자신의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모양을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스스로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그릴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수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있도록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설계함</a:t>
            </a:r>
            <a:r>
              <a:rPr lang="en-US" sz="1400" spc="-151">
                <a:ea typeface="+mn-lt"/>
                <a:cs typeface="+mn-lt"/>
              </a:rPr>
              <a:t>.</a:t>
            </a:r>
            <a:endParaRPr lang="en-US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endParaRPr lang="en-US" altLang="ko-KR" sz="1400" spc="-151" dirty="0"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400" b="1" spc="-151">
                <a:ea typeface="+mn-lt"/>
                <a:cs typeface="+mn-lt"/>
              </a:rPr>
              <a:t>인터페이스</a:t>
            </a:r>
            <a:r>
              <a:rPr lang="en-US" sz="1400" b="1" spc="-151" dirty="0">
                <a:ea typeface="+mn-lt"/>
                <a:cs typeface="+mn-lt"/>
              </a:rPr>
              <a:t> </a:t>
            </a:r>
            <a:r>
              <a:rPr lang="ko-KR" altLang="en-US" sz="1400" b="1" spc="-151">
                <a:ea typeface="+mn-lt"/>
                <a:cs typeface="+mn-lt"/>
              </a:rPr>
              <a:t>활용</a:t>
            </a:r>
            <a:r>
              <a:rPr lang="en-US" sz="1400" b="1" spc="-151" dirty="0">
                <a:ea typeface="+mn-lt"/>
                <a:cs typeface="+mn-lt"/>
              </a:rPr>
              <a:t> </a:t>
            </a:r>
            <a:r>
              <a:rPr lang="ko-KR" altLang="en-US" sz="1400" b="1" spc="-151">
                <a:ea typeface="+mn-lt"/>
                <a:cs typeface="+mn-lt"/>
              </a:rPr>
              <a:t>및</a:t>
            </a:r>
            <a:r>
              <a:rPr lang="en-US" sz="1400" b="1" spc="-151" dirty="0">
                <a:ea typeface="+mn-lt"/>
                <a:cs typeface="+mn-lt"/>
              </a:rPr>
              <a:t> </a:t>
            </a:r>
            <a:r>
              <a:rPr lang="ko-KR" altLang="en-US" sz="1400" b="1" spc="-151">
                <a:ea typeface="+mn-lt"/>
                <a:cs typeface="+mn-lt"/>
              </a:rPr>
              <a:t>확장성</a:t>
            </a:r>
            <a:endParaRPr lang="en-US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r>
              <a:rPr lang="en-US" sz="1400" spc="-151">
                <a:latin typeface="Consolas"/>
                <a:ea typeface="맑은 고딕"/>
              </a:rPr>
              <a:t>Ball</a:t>
            </a:r>
            <a:r>
              <a:rPr lang="en-US" sz="1400" spc="-151">
                <a:ea typeface="+mn-lt"/>
                <a:cs typeface="+mn-lt"/>
              </a:rPr>
              <a:t>, </a:t>
            </a:r>
            <a:r>
              <a:rPr lang="en-US" sz="1400" spc="-151">
                <a:latin typeface="Consolas"/>
                <a:ea typeface="맑은 고딕"/>
              </a:rPr>
              <a:t>Paddle</a:t>
            </a:r>
            <a:r>
              <a:rPr lang="en-US" sz="1400" spc="-151">
                <a:ea typeface="+mn-lt"/>
                <a:cs typeface="+mn-lt"/>
              </a:rPr>
              <a:t>, </a:t>
            </a:r>
            <a:r>
              <a:rPr lang="en-US" sz="1400" spc="-151">
                <a:latin typeface="Consolas"/>
                <a:ea typeface="맑은 고딕"/>
              </a:rPr>
              <a:t>Bricks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등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서로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다른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클래스들이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en-US" sz="1400" spc="-151">
                <a:latin typeface="Consolas"/>
                <a:ea typeface="맑은 고딕"/>
              </a:rPr>
              <a:t>Paintable</a:t>
            </a:r>
            <a:r>
              <a:rPr lang="ko-KR" altLang="en-US" sz="1400" spc="-151">
                <a:ea typeface="+mn-lt"/>
                <a:cs typeface="+mn-lt"/>
              </a:rPr>
              <a:t>을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구현</a:t>
            </a:r>
            <a:r>
              <a:rPr lang="en-US" sz="1400" spc="-151">
                <a:ea typeface="+mn-lt"/>
                <a:cs typeface="+mn-lt"/>
              </a:rPr>
              <a:t>(implements)</a:t>
            </a:r>
            <a:r>
              <a:rPr lang="ko-KR" altLang="en-US" sz="1400" spc="-151">
                <a:ea typeface="+mn-lt"/>
                <a:cs typeface="+mn-lt"/>
              </a:rPr>
              <a:t>하게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함으로써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다형성을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실현함</a:t>
            </a:r>
            <a:r>
              <a:rPr lang="en-US" sz="1400" spc="-151">
                <a:ea typeface="+mn-lt"/>
                <a:cs typeface="+mn-lt"/>
              </a:rPr>
              <a:t>.</a:t>
            </a:r>
            <a:endParaRPr lang="en-US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400" spc="-151">
                <a:ea typeface="+mn-lt"/>
                <a:cs typeface="+mn-lt"/>
              </a:rPr>
              <a:t>새로운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게임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요소</a:t>
            </a:r>
            <a:r>
              <a:rPr lang="en-US" sz="1400" spc="-151">
                <a:ea typeface="+mn-lt"/>
                <a:cs typeface="+mn-lt"/>
              </a:rPr>
              <a:t>(</a:t>
            </a:r>
            <a:r>
              <a:rPr lang="ko-KR" altLang="en-US" sz="1400" spc="-151">
                <a:ea typeface="+mn-lt"/>
                <a:cs typeface="+mn-lt"/>
              </a:rPr>
              <a:t>아이템</a:t>
            </a:r>
            <a:r>
              <a:rPr lang="en-US" sz="1400" spc="-151">
                <a:ea typeface="+mn-lt"/>
                <a:cs typeface="+mn-lt"/>
              </a:rPr>
              <a:t>, </a:t>
            </a:r>
            <a:r>
              <a:rPr lang="ko-KR" altLang="en-US" sz="1400" spc="-151">
                <a:ea typeface="+mn-lt"/>
                <a:cs typeface="+mn-lt"/>
              </a:rPr>
              <a:t>특수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장애물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등</a:t>
            </a:r>
            <a:r>
              <a:rPr lang="en-US" sz="1400" spc="-151">
                <a:ea typeface="+mn-lt"/>
                <a:cs typeface="+mn-lt"/>
              </a:rPr>
              <a:t>)</a:t>
            </a:r>
            <a:r>
              <a:rPr lang="ko-KR" altLang="en-US" sz="1400" spc="-151">
                <a:ea typeface="+mn-lt"/>
                <a:cs typeface="+mn-lt"/>
              </a:rPr>
              <a:t>가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추가되더라도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기존의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렌더링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로직을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수정하지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않고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즉시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적용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가능한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구조를</a:t>
            </a:r>
            <a:r>
              <a:rPr lang="en-US" sz="1400" spc="-151" dirty="0">
                <a:ea typeface="+mn-lt"/>
                <a:cs typeface="+mn-lt"/>
              </a:rPr>
              <a:t> </a:t>
            </a:r>
            <a:r>
              <a:rPr lang="ko-KR" altLang="en-US" sz="1400" spc="-151">
                <a:ea typeface="+mn-lt"/>
                <a:cs typeface="+mn-lt"/>
              </a:rPr>
              <a:t>구축함</a:t>
            </a:r>
            <a:r>
              <a:rPr lang="en-US" sz="1400" spc="-151">
                <a:ea typeface="+mn-lt"/>
                <a:cs typeface="+mn-lt"/>
              </a:rPr>
              <a:t>.</a:t>
            </a:r>
            <a:endParaRPr lang="en-US"/>
          </a:p>
          <a:p>
            <a:pPr>
              <a:buNone/>
              <a:tabLst>
                <a:tab pos="408240" algn="l"/>
              </a:tabLst>
            </a:pPr>
            <a:endParaRPr lang="en-US" altLang="ko-KR" sz="1400" strike="noStrike" spc="-151" dirty="0">
              <a:latin typeface="맑은 고딕"/>
              <a:ea typeface="맑은 고딕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1542A891-7FC9-2EA1-6503-E00112CD06AE}"/>
              </a:ext>
            </a:extLst>
          </p:cNvPr>
          <p:cNvSpPr/>
          <p:nvPr/>
        </p:nvSpPr>
        <p:spPr>
          <a:xfrm>
            <a:off x="1127520" y="113545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408240" algn="l"/>
              </a:tabLst>
            </a:pPr>
            <a:r>
              <a:rPr lang="en-US" altLang="ko-KR" b="1" spc="-100">
                <a:solidFill>
                  <a:srgbClr val="3B3838"/>
                </a:solidFill>
                <a:latin typeface="맑은 고딕"/>
                <a:ea typeface="맑은 고딕"/>
              </a:rPr>
              <a:t>4. 인터페이스를 활용하여 draw(gc) 만들기</a:t>
            </a:r>
            <a:endParaRPr lang="ko-KR" altLang="en-US" b="1" spc="-100">
              <a:solidFill>
                <a:srgbClr val="3B3838"/>
              </a:solidFill>
              <a:latin typeface="맑은 고딕"/>
              <a:ea typeface="맑은 고딕"/>
            </a:endParaRPr>
          </a:p>
        </p:txBody>
      </p:sp>
      <p:sp>
        <p:nvSpPr>
          <p:cNvPr id="4" name="TextBox 31">
            <a:extLst>
              <a:ext uri="{FF2B5EF4-FFF2-40B4-BE49-F238E27FC236}">
                <a16:creationId xmlns:a16="http://schemas.microsoft.com/office/drawing/2014/main" id="{26D5ACA4-ACE3-BEC0-97A1-2E0BE87B9DC7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A5A828-B9D4-3633-105D-62A2B9A2B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2746375"/>
            <a:ext cx="5203825" cy="16430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직사각형 25"/>
          <p:cNvSpPr/>
          <p:nvPr/>
        </p:nvSpPr>
        <p:spPr>
          <a:xfrm>
            <a:off x="227520" y="191880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9" name="직선 연결선 8"/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0" name="TextBox 53"/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04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61" name="TextBox 54"/>
          <p:cNvSpPr/>
          <p:nvPr/>
        </p:nvSpPr>
        <p:spPr>
          <a:xfrm>
            <a:off x="515520" y="385200"/>
            <a:ext cx="2594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2400" b="0" strike="noStrike" spc="-1">
                <a:solidFill>
                  <a:srgbClr val="404040"/>
                </a:solidFill>
                <a:latin typeface="휴먼둥근헤드라인"/>
                <a:ea typeface="휴먼둥근헤드라인"/>
              </a:rPr>
              <a:t>프로젝트 수행 경과</a:t>
            </a:r>
            <a:endParaRPr lang="en-US" sz="2400" b="0" strike="noStrike" spc="-1">
              <a:latin typeface="Noto Sans CJK KR"/>
            </a:endParaRPr>
          </a:p>
        </p:txBody>
      </p:sp>
      <p:sp>
        <p:nvSpPr>
          <p:cNvPr id="162" name="직사각형 26"/>
          <p:cNvSpPr/>
          <p:nvPr/>
        </p:nvSpPr>
        <p:spPr>
          <a:xfrm>
            <a:off x="360000" y="1800000"/>
            <a:ext cx="4074495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buNone/>
              <a:tabLst>
                <a:tab pos="408240" algn="l"/>
              </a:tabLst>
            </a:pPr>
            <a:endParaRPr lang="ko-KR" altLang="en-US" sz="1400" strike="noStrike" spc="-15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0">
            <a:extLst>
              <a:ext uri="{FF2B5EF4-FFF2-40B4-BE49-F238E27FC236}">
                <a16:creationId xmlns:a16="http://schemas.microsoft.com/office/drawing/2014/main" id="{F191FEE6-9EC3-DC34-87DD-CB74EE9FA3F0}"/>
              </a:ext>
            </a:extLst>
          </p:cNvPr>
          <p:cNvSpPr/>
          <p:nvPr/>
        </p:nvSpPr>
        <p:spPr>
          <a:xfrm>
            <a:off x="1127520" y="113545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408240" algn="l"/>
              </a:tabLst>
            </a:pPr>
            <a:r>
              <a:rPr lang="en-US" altLang="ko-KR" b="1" spc="-100">
                <a:solidFill>
                  <a:srgbClr val="3B3838"/>
                </a:solidFill>
                <a:latin typeface="맑은 고딕"/>
                <a:ea typeface="맑은 고딕"/>
              </a:rPr>
              <a:t>5. 패들 클래스와 그리기</a:t>
            </a:r>
            <a:endParaRPr lang="ko-KR" altLang="ko-KR" b="1" spc="-100">
              <a:solidFill>
                <a:srgbClr val="3B3838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31">
            <a:extLst>
              <a:ext uri="{FF2B5EF4-FFF2-40B4-BE49-F238E27FC236}">
                <a16:creationId xmlns:a16="http://schemas.microsoft.com/office/drawing/2014/main" id="{14E0AAFC-5829-BB27-CFA9-4B293CDED590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  <p:pic>
        <p:nvPicPr>
          <p:cNvPr id="2" name="그림 1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2D1939-5062-B646-296E-79FD02237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097" y="190500"/>
            <a:ext cx="3619996" cy="4548187"/>
          </a:xfrm>
          <a:prstGeom prst="rect">
            <a:avLst/>
          </a:prstGeom>
        </p:spPr>
      </p:pic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09664A-E11B-5489-BDCB-C39F583FF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962" y="4740275"/>
            <a:ext cx="3624262" cy="1822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34F83B-B90B-8BDA-6985-CE6BD12ECDE5}"/>
              </a:ext>
            </a:extLst>
          </p:cNvPr>
          <p:cNvSpPr txBox="1"/>
          <p:nvPr/>
        </p:nvSpPr>
        <p:spPr>
          <a:xfrm>
            <a:off x="611188" y="1801813"/>
            <a:ext cx="609600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Paddle(조작부) 구현 핵심</a:t>
            </a:r>
          </a:p>
          <a:p>
            <a:endParaRPr lang="en-US" b="1" dirty="0"/>
          </a:p>
          <a:p>
            <a:pPr marL="228600" indent="-228600">
              <a:buFont typeface=""/>
              <a:buChar char="•"/>
            </a:pPr>
            <a:r>
              <a:rPr lang="en-US" b="1"/>
              <a:t>사용자 인터랙션 구현</a:t>
            </a:r>
          </a:p>
          <a:p>
            <a:pPr marL="228600" indent="-228600">
              <a:buFont typeface=""/>
              <a:buChar char="•"/>
            </a:pPr>
            <a:endParaRPr lang="en-US" b="1" dirty="0"/>
          </a:p>
          <a:p>
            <a:pPr marL="228600" lvl="1" indent="-228600">
              <a:buFont typeface=""/>
              <a:buChar char="•"/>
            </a:pPr>
            <a:r>
              <a:rPr lang="en-US"/>
              <a:t>키보드 입력에 따라 좌우로 이동하며, 이동 거리(7px)를 설정하여 부드러운 조작감을 제공함.</a:t>
            </a:r>
          </a:p>
          <a:p>
            <a:pPr marL="228600" lvl="1" indent="-228600">
              <a:buFont typeface="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b="1"/>
              <a:t>화면 이탈 </a:t>
            </a:r>
            <a:r>
              <a:rPr lang="ko-KR" altLang="en-US" b="1"/>
              <a:t>방지</a:t>
            </a:r>
            <a:r>
              <a:rPr lang="en-US" b="1"/>
              <a:t>(Boundary Check)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패들이 캔버스 밖으로 나가지 않도록 좌측 끝(0)과 우측 끝(canvasWidth - width) 좌표를 강제로 제한함.</a:t>
            </a:r>
          </a:p>
          <a:p>
            <a:pPr marL="228600" lvl="1" indent="-228600">
              <a:buFont typeface="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b="1"/>
              <a:t>객체 렌더링 및 규격 설정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GraphicsContext를 사용하여 검은색(Color.BLACK) 사각형 패들을 화면 하단에 렌더링함.</a:t>
            </a:r>
          </a:p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직사각형 49"/>
          <p:cNvSpPr/>
          <p:nvPr/>
        </p:nvSpPr>
        <p:spPr>
          <a:xfrm>
            <a:off x="227520" y="252000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8" name="직선 연결선 1"/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9" name="TextBox 65"/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04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70" name="TextBox 66"/>
          <p:cNvSpPr/>
          <p:nvPr/>
        </p:nvSpPr>
        <p:spPr>
          <a:xfrm>
            <a:off x="515520" y="385200"/>
            <a:ext cx="2594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2400" b="0" strike="noStrike" spc="-1">
                <a:solidFill>
                  <a:srgbClr val="404040"/>
                </a:solidFill>
                <a:latin typeface="휴먼둥근헤드라인"/>
                <a:ea typeface="휴먼둥근헤드라인"/>
              </a:rPr>
              <a:t>프로젝트 수행 경과</a:t>
            </a:r>
            <a:endParaRPr lang="en-US" sz="2400" b="0" strike="noStrike" spc="-1">
              <a:latin typeface="Noto Sans CJK KR"/>
            </a:endParaRPr>
          </a:p>
        </p:txBody>
      </p:sp>
      <p:sp>
        <p:nvSpPr>
          <p:cNvPr id="171" name="직사각형 13"/>
          <p:cNvSpPr/>
          <p:nvPr/>
        </p:nvSpPr>
        <p:spPr>
          <a:xfrm>
            <a:off x="608442" y="2085750"/>
            <a:ext cx="6820995" cy="3599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tabLst>
                <a:tab pos="408240" algn="l"/>
              </a:tabLst>
            </a:pPr>
            <a:r>
              <a:rPr lang="ko-KR"/>
              <a:t>Bricks(타겟) 구현 핵심</a:t>
            </a:r>
          </a:p>
          <a:p>
            <a:pPr>
              <a:tabLst>
                <a:tab pos="408240" algn="l"/>
              </a:tabLst>
            </a:pPr>
            <a:endParaRPr lang="ko-KR" alt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sz="1600" b="1" spc="-151">
                <a:ea typeface="+mn-lt"/>
                <a:cs typeface="+mn-lt"/>
              </a:rPr>
              <a:t>상태 관리 시스템 (Life Cycle)</a:t>
            </a:r>
            <a:endParaRPr lang="ko-KR" sz="1600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r>
              <a:rPr lang="ko-KR" sz="1600" spc="-151">
                <a:latin typeface="Consolas"/>
                <a:ea typeface="맑은 고딕"/>
              </a:rPr>
              <a:t>alive</a:t>
            </a:r>
            <a:r>
              <a:rPr lang="ko-KR" sz="1600" spc="-151">
                <a:ea typeface="+mn-lt"/>
                <a:cs typeface="+mn-lt"/>
              </a:rPr>
              <a:t> 변수를 통해 벽돌의 생존 여부를 관리하며, 공과 충돌 시 상태를 </a:t>
            </a:r>
            <a:r>
              <a:rPr lang="ko-KR" sz="1600" spc="-151">
                <a:latin typeface="Consolas"/>
                <a:ea typeface="맑은 고딕"/>
              </a:rPr>
              <a:t>false</a:t>
            </a:r>
            <a:r>
              <a:rPr lang="ko-KR" sz="1600" spc="-151">
                <a:ea typeface="+mn-lt"/>
                <a:cs typeface="+mn-lt"/>
              </a:rPr>
              <a:t>로 전환하여 화면에서 제거함.</a:t>
            </a:r>
            <a:endParaRPr lang="ko-KR" sz="1600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endParaRPr lang="ko-KR" altLang="en-US" sz="1600" spc="-15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sz="1600" b="1" spc="-151">
                <a:ea typeface="+mn-lt"/>
                <a:cs typeface="+mn-lt"/>
              </a:rPr>
              <a:t>조건부 렌더링 적용</a:t>
            </a:r>
            <a:endParaRPr lang="ko-KR" sz="1600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r>
              <a:rPr lang="ko-KR" sz="1600" spc="-151">
                <a:latin typeface="Consolas"/>
                <a:ea typeface="맑은 고딕"/>
              </a:rPr>
              <a:t>draw</a:t>
            </a:r>
            <a:r>
              <a:rPr lang="ko-KR" sz="1600" spc="-151">
                <a:ea typeface="+mn-lt"/>
                <a:cs typeface="+mn-lt"/>
              </a:rPr>
              <a:t> 메서드 내에서 상태값을 체크하여 살아있는 벽돌만 주황색(</a:t>
            </a:r>
            <a:r>
              <a:rPr lang="ko-KR" sz="1600" spc="-151">
                <a:latin typeface="Consolas"/>
                <a:ea typeface="맑은 고딕"/>
              </a:rPr>
              <a:t>Color.ORANGE</a:t>
            </a:r>
            <a:r>
              <a:rPr lang="ko-KR" sz="1600" spc="-151">
                <a:ea typeface="+mn-lt"/>
                <a:cs typeface="+mn-lt"/>
              </a:rPr>
              <a:t>)으로 화면에 표시함.</a:t>
            </a:r>
            <a:endParaRPr lang="ko-KR" sz="1600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endParaRPr lang="ko-KR" altLang="en-US" sz="1600" spc="-15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sz="1600" b="1" spc="-151">
                <a:ea typeface="+mn-lt"/>
                <a:cs typeface="+mn-lt"/>
              </a:rPr>
              <a:t>시각적 디테일 구현</a:t>
            </a:r>
            <a:endParaRPr lang="ko-KR" sz="1600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r>
              <a:rPr lang="ko-KR" sz="1600" spc="-151">
                <a:latin typeface="Consolas"/>
                <a:ea typeface="맑은 고딕"/>
              </a:rPr>
              <a:t>fillRect</a:t>
            </a:r>
            <a:r>
              <a:rPr lang="ko-KR" sz="1600" spc="-151">
                <a:ea typeface="+mn-lt"/>
                <a:cs typeface="+mn-lt"/>
              </a:rPr>
              <a:t>(채우기)와 </a:t>
            </a:r>
            <a:r>
              <a:rPr lang="ko-KR" sz="1600" spc="-151">
                <a:latin typeface="Consolas"/>
                <a:ea typeface="맑은 고딕"/>
              </a:rPr>
              <a:t>strokeRect</a:t>
            </a:r>
            <a:r>
              <a:rPr lang="ko-KR" sz="1600" spc="-151">
                <a:ea typeface="+mn-lt"/>
                <a:cs typeface="+mn-lt"/>
              </a:rPr>
              <a:t>(테두리)를 동시에 사용하여 개별 벽돌의 경계를 명확하게 구분함.</a:t>
            </a:r>
            <a:endParaRPr lang="ko-KR" sz="1600"/>
          </a:p>
          <a:p>
            <a:pPr>
              <a:buNone/>
              <a:tabLst>
                <a:tab pos="408240" algn="l"/>
              </a:tabLst>
            </a:pPr>
            <a:endParaRPr lang="ko-KR" altLang="en-US" sz="1600" strike="noStrike" spc="-15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F26A1ED8-837E-28F6-A963-6EFF9C31BF5B}"/>
              </a:ext>
            </a:extLst>
          </p:cNvPr>
          <p:cNvSpPr/>
          <p:nvPr/>
        </p:nvSpPr>
        <p:spPr>
          <a:xfrm>
            <a:off x="1127520" y="113545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408240" algn="l"/>
              </a:tabLst>
            </a:pPr>
            <a:r>
              <a:rPr lang="en-US" altLang="ko-KR" b="1" spc="-100">
                <a:solidFill>
                  <a:srgbClr val="3B3838"/>
                </a:solidFill>
                <a:latin typeface="맑은 고딕"/>
                <a:ea typeface="맑은 고딕"/>
              </a:rPr>
              <a:t>6. Bricks 클래스 만들기 와 충돌</a:t>
            </a:r>
            <a:endParaRPr lang="ko-KR" altLang="en-US" b="1" spc="-100">
              <a:solidFill>
                <a:srgbClr val="3B3838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31">
            <a:extLst>
              <a:ext uri="{FF2B5EF4-FFF2-40B4-BE49-F238E27FC236}">
                <a16:creationId xmlns:a16="http://schemas.microsoft.com/office/drawing/2014/main" id="{E59EEDEF-9AF1-9685-B440-D377721EE23A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  <p:pic>
        <p:nvPicPr>
          <p:cNvPr id="4" name="그림 3" descr="텍스트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A5CB1F-E540-49A5-A55E-E5B9BA04B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580" y="254000"/>
            <a:ext cx="3555279" cy="4238625"/>
          </a:xfrm>
          <a:prstGeom prst="rect">
            <a:avLst/>
          </a:prstGeom>
        </p:spPr>
      </p:pic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C74FB5-07CD-5782-2779-0804E4DCF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187" y="4489450"/>
            <a:ext cx="4056063" cy="19351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직사각형 27"/>
          <p:cNvSpPr/>
          <p:nvPr/>
        </p:nvSpPr>
        <p:spPr>
          <a:xfrm>
            <a:off x="227520" y="191880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7" name="직선 연결선 9"/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8" name="TextBox 57"/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04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79" name="TextBox 58"/>
          <p:cNvSpPr/>
          <p:nvPr/>
        </p:nvSpPr>
        <p:spPr>
          <a:xfrm>
            <a:off x="515520" y="385200"/>
            <a:ext cx="2594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2400" b="0" strike="noStrike" spc="-1">
                <a:solidFill>
                  <a:srgbClr val="404040"/>
                </a:solidFill>
                <a:latin typeface="휴먼둥근헤드라인"/>
                <a:ea typeface="휴먼둥근헤드라인"/>
              </a:rPr>
              <a:t>프로젝트 수행 경과</a:t>
            </a:r>
            <a:endParaRPr lang="en-US" sz="2400" b="0" strike="noStrike" spc="-1">
              <a:latin typeface="Noto Sans CJK KR"/>
            </a:endParaRPr>
          </a:p>
        </p:txBody>
      </p:sp>
      <p:sp>
        <p:nvSpPr>
          <p:cNvPr id="180" name="직사각형 42"/>
          <p:cNvSpPr/>
          <p:nvPr/>
        </p:nvSpPr>
        <p:spPr>
          <a:xfrm>
            <a:off x="515880" y="2111760"/>
            <a:ext cx="5553432" cy="38245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tabLst>
                <a:tab pos="408240" algn="l"/>
              </a:tabLst>
            </a:pPr>
            <a:r>
              <a:rPr lang="en-US" sz="1400" strike="noStrike" spc="-151" dirty="0">
                <a:latin typeface="맑은 고딕"/>
                <a:ea typeface="맑은 고딕"/>
              </a:rPr>
              <a:t> </a:t>
            </a:r>
            <a:r>
              <a:rPr lang="en-US"/>
              <a:t>GameObject(</a:t>
            </a:r>
            <a:r>
              <a:rPr lang="ko-KR" altLang="en-US"/>
              <a:t>최상위</a:t>
            </a:r>
            <a:r>
              <a:rPr lang="en-US" dirty="0"/>
              <a:t> </a:t>
            </a:r>
            <a:r>
              <a:rPr lang="ko-KR" altLang="en-US"/>
              <a:t>설계</a:t>
            </a:r>
            <a:r>
              <a:rPr lang="en-US"/>
              <a:t>) </a:t>
            </a:r>
            <a:r>
              <a:rPr lang="ko-KR" altLang="en-US"/>
              <a:t>구현</a:t>
            </a:r>
            <a:r>
              <a:rPr lang="en-US" dirty="0"/>
              <a:t> </a:t>
            </a:r>
            <a:r>
              <a:rPr lang="ko-KR" altLang="en-US"/>
              <a:t>핵심</a:t>
            </a:r>
            <a:endParaRPr lang="ko-KR" altLang="en-US" sz="1400" spc="-151">
              <a:latin typeface="맑은 고딕"/>
              <a:ea typeface="맑은 고딕"/>
            </a:endParaRPr>
          </a:p>
          <a:p>
            <a:pPr>
              <a:tabLst>
                <a:tab pos="408240" algn="l"/>
              </a:tabLst>
            </a:pPr>
            <a:endParaRPr lang="ko-KR" alt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600" b="1" spc="-151">
                <a:ea typeface="+mn-lt"/>
                <a:cs typeface="+mn-lt"/>
              </a:rPr>
              <a:t>객체지향</a:t>
            </a:r>
            <a:r>
              <a:rPr lang="en-US" sz="1600" b="1" spc="-151" dirty="0">
                <a:ea typeface="+mn-lt"/>
                <a:cs typeface="+mn-lt"/>
              </a:rPr>
              <a:t> </a:t>
            </a:r>
            <a:r>
              <a:rPr lang="ko-KR" altLang="en-US" sz="1600" b="1" spc="-151">
                <a:ea typeface="+mn-lt"/>
                <a:cs typeface="+mn-lt"/>
              </a:rPr>
              <a:t>상속</a:t>
            </a:r>
            <a:r>
              <a:rPr lang="en-US" sz="1600" b="1" spc="-151" dirty="0">
                <a:ea typeface="+mn-lt"/>
                <a:cs typeface="+mn-lt"/>
              </a:rPr>
              <a:t> </a:t>
            </a:r>
            <a:r>
              <a:rPr lang="ko-KR" altLang="en-US" sz="1600" b="1" spc="-151">
                <a:ea typeface="+mn-lt"/>
                <a:cs typeface="+mn-lt"/>
              </a:rPr>
              <a:t>구조의</a:t>
            </a:r>
            <a:r>
              <a:rPr lang="en-US" sz="1600" b="1" spc="-151" dirty="0">
                <a:ea typeface="+mn-lt"/>
                <a:cs typeface="+mn-lt"/>
              </a:rPr>
              <a:t> </a:t>
            </a:r>
            <a:r>
              <a:rPr lang="ko-KR" altLang="en-US" sz="1600" b="1" spc="-151">
                <a:ea typeface="+mn-lt"/>
                <a:cs typeface="+mn-lt"/>
              </a:rPr>
              <a:t>중심</a:t>
            </a:r>
            <a:endParaRPr lang="en-US" sz="1600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r>
              <a:rPr lang="en-US" sz="1600" spc="-151">
                <a:latin typeface="Consolas"/>
                <a:ea typeface="맑은 고딕"/>
              </a:rPr>
              <a:t>Ball</a:t>
            </a:r>
            <a:r>
              <a:rPr lang="en-US" sz="1600" spc="-151">
                <a:ea typeface="+mn-lt"/>
                <a:cs typeface="+mn-lt"/>
              </a:rPr>
              <a:t>, </a:t>
            </a:r>
            <a:r>
              <a:rPr lang="en-US" sz="1600" spc="-151">
                <a:latin typeface="Consolas"/>
                <a:ea typeface="맑은 고딕"/>
              </a:rPr>
              <a:t>Paddle</a:t>
            </a:r>
            <a:r>
              <a:rPr lang="en-US" sz="1600" spc="-151">
                <a:ea typeface="+mn-lt"/>
                <a:cs typeface="+mn-lt"/>
              </a:rPr>
              <a:t>, </a:t>
            </a:r>
            <a:r>
              <a:rPr lang="en-US" sz="1600" spc="-151">
                <a:latin typeface="Consolas"/>
                <a:ea typeface="맑은 고딕"/>
              </a:rPr>
              <a:t>Bricks</a:t>
            </a:r>
            <a:r>
              <a:rPr lang="ko-KR" altLang="en-US" sz="1600" spc="-151">
                <a:ea typeface="+mn-lt"/>
                <a:cs typeface="+mn-lt"/>
              </a:rPr>
              <a:t>가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공통으로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가져야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할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위치</a:t>
            </a:r>
            <a:r>
              <a:rPr lang="en-US" sz="1600" spc="-151">
                <a:ea typeface="+mn-lt"/>
                <a:cs typeface="+mn-lt"/>
              </a:rPr>
              <a:t>(</a:t>
            </a:r>
            <a:r>
              <a:rPr lang="en-US" sz="1600" spc="-151">
                <a:latin typeface="Consolas"/>
                <a:ea typeface="맑은 고딕"/>
              </a:rPr>
              <a:t>x</a:t>
            </a:r>
            <a:r>
              <a:rPr lang="en-US" sz="1600" spc="-151">
                <a:ea typeface="+mn-lt"/>
                <a:cs typeface="+mn-lt"/>
              </a:rPr>
              <a:t>, </a:t>
            </a:r>
            <a:r>
              <a:rPr lang="en-US" sz="1600" spc="-151">
                <a:latin typeface="Consolas"/>
                <a:ea typeface="맑은 고딕"/>
              </a:rPr>
              <a:t>y</a:t>
            </a:r>
            <a:r>
              <a:rPr lang="en-US" sz="1600" spc="-151">
                <a:ea typeface="+mn-lt"/>
                <a:cs typeface="+mn-lt"/>
              </a:rPr>
              <a:t>)</a:t>
            </a:r>
            <a:r>
              <a:rPr lang="ko-KR" altLang="en-US" sz="1600" spc="-151">
                <a:ea typeface="+mn-lt"/>
                <a:cs typeface="+mn-lt"/>
              </a:rPr>
              <a:t>와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크기</a:t>
            </a:r>
            <a:r>
              <a:rPr lang="en-US" sz="1600" spc="-151">
                <a:ea typeface="+mn-lt"/>
                <a:cs typeface="+mn-lt"/>
              </a:rPr>
              <a:t>(</a:t>
            </a:r>
            <a:r>
              <a:rPr lang="en-US" sz="1600" spc="-151">
                <a:latin typeface="Consolas"/>
                <a:ea typeface="맑은 고딕"/>
              </a:rPr>
              <a:t>width</a:t>
            </a:r>
            <a:r>
              <a:rPr lang="en-US" sz="1600" spc="-151">
                <a:ea typeface="+mn-lt"/>
                <a:cs typeface="+mn-lt"/>
              </a:rPr>
              <a:t>, </a:t>
            </a:r>
            <a:r>
              <a:rPr lang="en-US" sz="1600" spc="-151">
                <a:latin typeface="Consolas"/>
                <a:ea typeface="맑은 고딕"/>
              </a:rPr>
              <a:t>height</a:t>
            </a:r>
            <a:r>
              <a:rPr lang="en-US" sz="1600" spc="-151">
                <a:ea typeface="+mn-lt"/>
                <a:cs typeface="+mn-lt"/>
              </a:rPr>
              <a:t>)</a:t>
            </a:r>
            <a:r>
              <a:rPr lang="ko-KR" altLang="en-US" sz="1600" spc="-151">
                <a:ea typeface="+mn-lt"/>
                <a:cs typeface="+mn-lt"/>
              </a:rPr>
              <a:t>를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정의하여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코드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중복을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최소화함</a:t>
            </a:r>
            <a:r>
              <a:rPr lang="en-US" sz="1600" spc="-151">
                <a:ea typeface="+mn-lt"/>
                <a:cs typeface="+mn-lt"/>
              </a:rPr>
              <a:t>.</a:t>
            </a:r>
            <a:endParaRPr lang="en-US" sz="1600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endParaRPr lang="en-US" altLang="ko-KR" sz="1600" spc="-15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600" b="1" spc="-151">
                <a:ea typeface="+mn-lt"/>
                <a:cs typeface="+mn-lt"/>
              </a:rPr>
              <a:t>인터페이스</a:t>
            </a:r>
            <a:r>
              <a:rPr lang="en-US" sz="1600" b="1" spc="-151" dirty="0">
                <a:ea typeface="+mn-lt"/>
                <a:cs typeface="+mn-lt"/>
              </a:rPr>
              <a:t> </a:t>
            </a:r>
            <a:r>
              <a:rPr lang="ko-KR" altLang="en-US" sz="1600" b="1" spc="-151">
                <a:ea typeface="+mn-lt"/>
                <a:cs typeface="+mn-lt"/>
              </a:rPr>
              <a:t>기반</a:t>
            </a:r>
            <a:r>
              <a:rPr lang="en-US" sz="1600" b="1" spc="-151" dirty="0">
                <a:ea typeface="+mn-lt"/>
                <a:cs typeface="+mn-lt"/>
              </a:rPr>
              <a:t> </a:t>
            </a:r>
            <a:r>
              <a:rPr lang="ko-KR" altLang="en-US" sz="1600" b="1" spc="-151">
                <a:ea typeface="+mn-lt"/>
                <a:cs typeface="+mn-lt"/>
              </a:rPr>
              <a:t>표준화</a:t>
            </a:r>
            <a:endParaRPr lang="en-US" sz="1600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r>
              <a:rPr lang="en-US" sz="1600" spc="-151">
                <a:latin typeface="Consolas"/>
                <a:ea typeface="맑은 고딕"/>
              </a:rPr>
              <a:t>Paintable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인터페이스를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상속받아</a:t>
            </a:r>
            <a:r>
              <a:rPr lang="en-US" sz="1600" spc="-151">
                <a:ea typeface="+mn-lt"/>
                <a:cs typeface="+mn-lt"/>
              </a:rPr>
              <a:t>, </a:t>
            </a:r>
            <a:r>
              <a:rPr lang="ko-KR" altLang="en-US" sz="1600" spc="-151">
                <a:ea typeface="+mn-lt"/>
                <a:cs typeface="+mn-lt"/>
              </a:rPr>
              <a:t>이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클래스를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따르는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모든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객체가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반드시</a:t>
            </a:r>
            <a:r>
              <a:rPr lang="en-US" sz="1600" spc="-151">
                <a:ea typeface="+mn-lt"/>
                <a:cs typeface="+mn-lt"/>
              </a:rPr>
              <a:t> '</a:t>
            </a:r>
            <a:r>
              <a:rPr lang="ko-KR" altLang="en-US" sz="1600" spc="-151">
                <a:ea typeface="+mn-lt"/>
                <a:cs typeface="+mn-lt"/>
              </a:rPr>
              <a:t>그리기</a:t>
            </a:r>
            <a:r>
              <a:rPr lang="en-US" sz="1600" spc="-151">
                <a:ea typeface="+mn-lt"/>
                <a:cs typeface="+mn-lt"/>
              </a:rPr>
              <a:t>' </a:t>
            </a:r>
            <a:r>
              <a:rPr lang="ko-KR" altLang="en-US" sz="1600" spc="-151">
                <a:ea typeface="+mn-lt"/>
                <a:cs typeface="+mn-lt"/>
              </a:rPr>
              <a:t>기능을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갖도록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en-US" altLang="ko-KR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함</a:t>
            </a:r>
            <a:r>
              <a:rPr lang="en-US" sz="1600" spc="-151">
                <a:ea typeface="+mn-lt"/>
                <a:cs typeface="+mn-lt"/>
              </a:rPr>
              <a:t>.</a:t>
            </a:r>
            <a:endParaRPr lang="en-US" sz="1600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endParaRPr lang="en-US" altLang="ko-KR" sz="1600" spc="-15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600" b="1" spc="-151">
                <a:ea typeface="+mn-lt"/>
                <a:cs typeface="+mn-lt"/>
              </a:rPr>
              <a:t>공통</a:t>
            </a:r>
            <a:r>
              <a:rPr lang="en-US" sz="1600" b="1" spc="-151" dirty="0">
                <a:ea typeface="+mn-lt"/>
                <a:cs typeface="+mn-lt"/>
              </a:rPr>
              <a:t> </a:t>
            </a:r>
            <a:r>
              <a:rPr lang="ko-KR" altLang="en-US" sz="1600" b="1" spc="-151">
                <a:ea typeface="+mn-lt"/>
                <a:cs typeface="+mn-lt"/>
              </a:rPr>
              <a:t>충돌</a:t>
            </a:r>
            <a:r>
              <a:rPr lang="en-US" sz="1600" b="1" spc="-151" dirty="0">
                <a:ea typeface="+mn-lt"/>
                <a:cs typeface="+mn-lt"/>
              </a:rPr>
              <a:t> </a:t>
            </a:r>
            <a:r>
              <a:rPr lang="ko-KR" altLang="en-US" sz="1600" b="1" spc="-151">
                <a:ea typeface="+mn-lt"/>
                <a:cs typeface="+mn-lt"/>
              </a:rPr>
              <a:t>판정</a:t>
            </a:r>
            <a:r>
              <a:rPr lang="en-US" sz="1600" b="1" spc="-151" dirty="0">
                <a:ea typeface="+mn-lt"/>
                <a:cs typeface="+mn-lt"/>
              </a:rPr>
              <a:t> </a:t>
            </a:r>
            <a:r>
              <a:rPr lang="ko-KR" altLang="en-US" sz="1600" b="1" spc="-151">
                <a:ea typeface="+mn-lt"/>
                <a:cs typeface="+mn-lt"/>
              </a:rPr>
              <a:t>알고리즘</a:t>
            </a:r>
            <a:r>
              <a:rPr lang="en-US" sz="1600" b="1" spc="-151">
                <a:ea typeface="+mn-lt"/>
                <a:cs typeface="+mn-lt"/>
              </a:rPr>
              <a:t>(</a:t>
            </a:r>
            <a:r>
              <a:rPr lang="en-US" sz="1600" b="1" spc="-151">
                <a:latin typeface="Consolas"/>
                <a:ea typeface="맑은 고딕"/>
              </a:rPr>
              <a:t>intersects</a:t>
            </a:r>
            <a:r>
              <a:rPr lang="en-US" sz="1600" b="1" spc="-151">
                <a:ea typeface="+mn-lt"/>
                <a:cs typeface="+mn-lt"/>
              </a:rPr>
              <a:t>)</a:t>
            </a:r>
            <a:endParaRPr lang="en-US" sz="1600"/>
          </a:p>
          <a:p>
            <a:pPr marL="742950" lvl="1" indent="-285750">
              <a:buFont typeface="Arial"/>
              <a:buChar char="•"/>
              <a:tabLst>
                <a:tab pos="408240" algn="l"/>
              </a:tabLst>
            </a:pPr>
            <a:r>
              <a:rPr lang="ko-KR" altLang="en-US" sz="1600" spc="-151">
                <a:ea typeface="+mn-lt"/>
                <a:cs typeface="+mn-lt"/>
              </a:rPr>
              <a:t>상하좌우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경계값을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비교하는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로직을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최상위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클래스에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구현하여</a:t>
            </a:r>
            <a:r>
              <a:rPr lang="en-US" sz="1600" spc="-151">
                <a:ea typeface="+mn-lt"/>
                <a:cs typeface="+mn-lt"/>
              </a:rPr>
              <a:t>, </a:t>
            </a:r>
            <a:r>
              <a:rPr lang="ko-KR" altLang="en-US" sz="1600" spc="-151">
                <a:ea typeface="+mn-lt"/>
                <a:cs typeface="+mn-lt"/>
              </a:rPr>
              <a:t>어떤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객체끼리도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서로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충돌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여부를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즉시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확인할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수</a:t>
            </a:r>
            <a:r>
              <a:rPr lang="en-US" sz="1600" spc="-151" dirty="0">
                <a:ea typeface="+mn-lt"/>
                <a:cs typeface="+mn-lt"/>
              </a:rPr>
              <a:t> </a:t>
            </a:r>
            <a:r>
              <a:rPr lang="ko-KR" altLang="en-US" sz="1600" spc="-151">
                <a:ea typeface="+mn-lt"/>
                <a:cs typeface="+mn-lt"/>
              </a:rPr>
              <a:t>있도록 함.</a:t>
            </a:r>
            <a:endParaRPr lang="en-US" altLang="ko-KR" sz="1600" spc="-151" dirty="0">
              <a:cs typeface="Arial"/>
            </a:endParaRPr>
          </a:p>
          <a:p>
            <a:pPr>
              <a:lnSpc>
                <a:spcPct val="114999"/>
              </a:lnSpc>
              <a:buNone/>
              <a:tabLst>
                <a:tab pos="408240" algn="l"/>
              </a:tabLst>
            </a:pPr>
            <a:endParaRPr lang="en-US" altLang="ko-KR" sz="1400" strike="noStrike" spc="-151" dirty="0">
              <a:latin typeface="맑은 고딕"/>
              <a:ea typeface="맑은 고딕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29FB0E7D-556A-18BA-0722-B5D5C79E8967}"/>
              </a:ext>
            </a:extLst>
          </p:cNvPr>
          <p:cNvSpPr/>
          <p:nvPr/>
        </p:nvSpPr>
        <p:spPr>
          <a:xfrm>
            <a:off x="1127520" y="113545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408240" algn="l"/>
              </a:tabLst>
            </a:pPr>
            <a:r>
              <a:rPr lang="en-US" altLang="ko-KR" b="1" spc="-100">
                <a:solidFill>
                  <a:srgbClr val="3B3838"/>
                </a:solidFill>
                <a:latin typeface="맑은 고딕"/>
                <a:ea typeface="맑은 고딕"/>
              </a:rPr>
              <a:t>7. GameObject 구현</a:t>
            </a:r>
            <a:endParaRPr lang="ko-KR" altLang="ko-KR" b="1" spc="-100">
              <a:solidFill>
                <a:srgbClr val="3B38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31">
            <a:extLst>
              <a:ext uri="{FF2B5EF4-FFF2-40B4-BE49-F238E27FC236}">
                <a16:creationId xmlns:a16="http://schemas.microsoft.com/office/drawing/2014/main" id="{A4EB162F-58A4-100A-A400-98A412F474AF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95B268-E482-9039-CC79-0A1C3F650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48261"/>
            <a:ext cx="5683250" cy="25536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EB5D6-8EF2-9AD1-2194-DC2F24DA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직사각형 27">
            <a:extLst>
              <a:ext uri="{FF2B5EF4-FFF2-40B4-BE49-F238E27FC236}">
                <a16:creationId xmlns:a16="http://schemas.microsoft.com/office/drawing/2014/main" id="{BDBEF1E0-75B0-51AB-2A2F-22AA8C711D47}"/>
              </a:ext>
            </a:extLst>
          </p:cNvPr>
          <p:cNvSpPr/>
          <p:nvPr/>
        </p:nvSpPr>
        <p:spPr>
          <a:xfrm>
            <a:off x="227520" y="191880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7" name="직선 연결선 9">
            <a:extLst>
              <a:ext uri="{FF2B5EF4-FFF2-40B4-BE49-F238E27FC236}">
                <a16:creationId xmlns:a16="http://schemas.microsoft.com/office/drawing/2014/main" id="{B980D145-4F8C-EE22-B8D0-75A0C70D623D}"/>
              </a:ext>
            </a:extLst>
          </p:cNvPr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8" name="TextBox 57">
            <a:extLst>
              <a:ext uri="{FF2B5EF4-FFF2-40B4-BE49-F238E27FC236}">
                <a16:creationId xmlns:a16="http://schemas.microsoft.com/office/drawing/2014/main" id="{377086BB-5205-72A8-B31D-3AF27018ABE3}"/>
              </a:ext>
            </a:extLst>
          </p:cNvPr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04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79" name="TextBox 58">
            <a:extLst>
              <a:ext uri="{FF2B5EF4-FFF2-40B4-BE49-F238E27FC236}">
                <a16:creationId xmlns:a16="http://schemas.microsoft.com/office/drawing/2014/main" id="{523AC26B-B3A6-660C-2CBA-3AE664E3DCB2}"/>
              </a:ext>
            </a:extLst>
          </p:cNvPr>
          <p:cNvSpPr/>
          <p:nvPr/>
        </p:nvSpPr>
        <p:spPr>
          <a:xfrm>
            <a:off x="515520" y="385200"/>
            <a:ext cx="2594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2400" b="0" strike="noStrike" spc="-1">
                <a:solidFill>
                  <a:srgbClr val="404040"/>
                </a:solidFill>
                <a:latin typeface="휴먼둥근헤드라인"/>
                <a:ea typeface="휴먼둥근헤드라인"/>
              </a:rPr>
              <a:t>프로젝트 수행 경과</a:t>
            </a:r>
            <a:endParaRPr lang="en-US" sz="2400" b="0" strike="noStrike" spc="-1">
              <a:latin typeface="Noto Sans CJK KR"/>
            </a:endParaRPr>
          </a:p>
        </p:txBody>
      </p:sp>
      <p:sp>
        <p:nvSpPr>
          <p:cNvPr id="180" name="직사각형 42">
            <a:extLst>
              <a:ext uri="{FF2B5EF4-FFF2-40B4-BE49-F238E27FC236}">
                <a16:creationId xmlns:a16="http://schemas.microsoft.com/office/drawing/2014/main" id="{1BEFCC45-0B14-2C79-67D6-B93D78E5BC8A}"/>
              </a:ext>
            </a:extLst>
          </p:cNvPr>
          <p:cNvSpPr/>
          <p:nvPr/>
        </p:nvSpPr>
        <p:spPr>
          <a:xfrm>
            <a:off x="461451" y="2275046"/>
            <a:ext cx="5553432" cy="23068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b="1">
                <a:ea typeface="+mn-lt"/>
                <a:cs typeface="+mn-lt"/>
              </a:rPr>
              <a:t>로직 요약: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>
                <a:latin typeface="Consolas"/>
                <a:ea typeface="맑은 고딕"/>
              </a:rPr>
              <a:t>handle(long now)</a:t>
            </a:r>
            <a:r>
              <a:rPr lang="ko-KR">
                <a:ea typeface="+mn-lt"/>
                <a:cs typeface="+mn-lt"/>
              </a:rPr>
              <a:t> 메서드를 통해 무한 루프를 돌며 </a:t>
            </a:r>
            <a:r>
              <a:rPr lang="ko-KR" b="1">
                <a:ea typeface="+mn-lt"/>
                <a:cs typeface="+mn-lt"/>
              </a:rPr>
              <a:t>[사용자 입력 → 물리 이동 → 충돌 판정 → 화면 갱신]</a:t>
            </a:r>
            <a:r>
              <a:rPr lang="ko-KR">
                <a:ea typeface="+mn-lt"/>
                <a:cs typeface="+mn-lt"/>
              </a:rPr>
              <a:t> 과정을 1/60초마다 수행함.</a:t>
            </a:r>
            <a:endParaRPr lang="ko-KR"/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endParaRPr lang="ko-KR" alt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endParaRPr lang="ko-KR" alt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r>
              <a:rPr lang="ko-KR" b="1">
                <a:ea typeface="+mn-lt"/>
                <a:cs typeface="+mn-lt"/>
              </a:rPr>
              <a:t>핵심 키워드:</a:t>
            </a:r>
            <a:r>
              <a:rPr lang="ko-KR">
                <a:ea typeface="+mn-lt"/>
                <a:cs typeface="+mn-lt"/>
              </a:rPr>
              <a:t> 프레임 동기화, 실시간 렌더링, </a:t>
            </a:r>
            <a:r>
              <a:rPr lang="ko-KR">
                <a:latin typeface="Consolas"/>
                <a:ea typeface="맑은 고딕"/>
              </a:rPr>
              <a:t>GraphicsContext</a:t>
            </a:r>
            <a:r>
              <a:rPr lang="ko-KR">
                <a:ea typeface="+mn-lt"/>
                <a:cs typeface="+mn-lt"/>
              </a:rPr>
              <a:t> 클리어.</a:t>
            </a:r>
            <a:endParaRPr lang="ko-KR"/>
          </a:p>
          <a:p>
            <a:pPr>
              <a:tabLst>
                <a:tab pos="408240" algn="l"/>
              </a:tabLst>
            </a:pPr>
            <a:endParaRPr lang="ko-KR" altLang="en-US" strike="noStrike" dirty="0">
              <a:latin typeface="Arial"/>
              <a:ea typeface="맑은 고딕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7D6B0C2B-8CE2-5BC8-7143-76D9B439A07D}"/>
              </a:ext>
            </a:extLst>
          </p:cNvPr>
          <p:cNvSpPr/>
          <p:nvPr/>
        </p:nvSpPr>
        <p:spPr>
          <a:xfrm>
            <a:off x="1127520" y="113545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408240" algn="l"/>
              </a:tabLst>
            </a:pPr>
            <a:r>
              <a:rPr lang="en-US" altLang="ko-KR" b="1" spc="-100">
                <a:solidFill>
                  <a:srgbClr val="3B3838"/>
                </a:solidFill>
                <a:latin typeface="맑은 고딕"/>
                <a:ea typeface="맑은 고딕"/>
              </a:rPr>
              <a:t>7. Main 구현- 실시간 게임 루프</a:t>
            </a:r>
            <a:endParaRPr lang="ko-KR" altLang="ko-KR" b="1" spc="-100">
              <a:solidFill>
                <a:srgbClr val="3B38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31">
            <a:extLst>
              <a:ext uri="{FF2B5EF4-FFF2-40B4-BE49-F238E27FC236}">
                <a16:creationId xmlns:a16="http://schemas.microsoft.com/office/drawing/2014/main" id="{B9689991-5868-FAA0-EB2D-B117F488B75E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033F08-621A-A0A6-4C12-B192B807C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048" y="1136196"/>
            <a:ext cx="4081423" cy="539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06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414A3-6B2F-4793-7A79-1857F5A0B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직사각형 27">
            <a:extLst>
              <a:ext uri="{FF2B5EF4-FFF2-40B4-BE49-F238E27FC236}">
                <a16:creationId xmlns:a16="http://schemas.microsoft.com/office/drawing/2014/main" id="{1888144D-0579-DF64-9FE8-7B7801BFFDEA}"/>
              </a:ext>
            </a:extLst>
          </p:cNvPr>
          <p:cNvSpPr/>
          <p:nvPr/>
        </p:nvSpPr>
        <p:spPr>
          <a:xfrm>
            <a:off x="227520" y="191880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7" name="직선 연결선 9">
            <a:extLst>
              <a:ext uri="{FF2B5EF4-FFF2-40B4-BE49-F238E27FC236}">
                <a16:creationId xmlns:a16="http://schemas.microsoft.com/office/drawing/2014/main" id="{9742BCC7-A846-96B5-71A9-9EA37ADD58DA}"/>
              </a:ext>
            </a:extLst>
          </p:cNvPr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8" name="TextBox 57">
            <a:extLst>
              <a:ext uri="{FF2B5EF4-FFF2-40B4-BE49-F238E27FC236}">
                <a16:creationId xmlns:a16="http://schemas.microsoft.com/office/drawing/2014/main" id="{BF70AE21-B6CA-9A5E-3129-9C09A5B4A2CD}"/>
              </a:ext>
            </a:extLst>
          </p:cNvPr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04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79" name="TextBox 58">
            <a:extLst>
              <a:ext uri="{FF2B5EF4-FFF2-40B4-BE49-F238E27FC236}">
                <a16:creationId xmlns:a16="http://schemas.microsoft.com/office/drawing/2014/main" id="{A2063DE1-CF96-2101-0100-67F0368FE429}"/>
              </a:ext>
            </a:extLst>
          </p:cNvPr>
          <p:cNvSpPr/>
          <p:nvPr/>
        </p:nvSpPr>
        <p:spPr>
          <a:xfrm>
            <a:off x="515520" y="385200"/>
            <a:ext cx="2594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2400" b="0" strike="noStrike" spc="-1">
                <a:solidFill>
                  <a:srgbClr val="404040"/>
                </a:solidFill>
                <a:latin typeface="휴먼둥근헤드라인"/>
                <a:ea typeface="휴먼둥근헤드라인"/>
              </a:rPr>
              <a:t>프로젝트 수행 경과</a:t>
            </a:r>
            <a:endParaRPr lang="en-US" sz="2400" b="0" strike="noStrike" spc="-1">
              <a:latin typeface="Noto Sans CJK KR"/>
            </a:endParaRPr>
          </a:p>
        </p:txBody>
      </p:sp>
      <p:sp>
        <p:nvSpPr>
          <p:cNvPr id="180" name="직사각형 42">
            <a:extLst>
              <a:ext uri="{FF2B5EF4-FFF2-40B4-BE49-F238E27FC236}">
                <a16:creationId xmlns:a16="http://schemas.microsoft.com/office/drawing/2014/main" id="{36B99B45-9B1E-FC6A-DBF0-6C1DD62E902E}"/>
              </a:ext>
            </a:extLst>
          </p:cNvPr>
          <p:cNvSpPr/>
          <p:nvPr/>
        </p:nvSpPr>
        <p:spPr>
          <a:xfrm>
            <a:off x="515880" y="2111760"/>
            <a:ext cx="5553432" cy="3639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buFont typeface="Arial"/>
              <a:buChar char="•"/>
              <a:tabLst>
                <a:tab pos="408240" algn="l"/>
              </a:tabLst>
            </a:pPr>
            <a:r>
              <a:rPr lang="ko-KR" b="1">
                <a:ea typeface="+mn-lt"/>
                <a:cs typeface="+mn-lt"/>
              </a:rPr>
              <a:t>로직 요약: 충돌 판정:</a:t>
            </a:r>
            <a:r>
              <a:rPr lang="ko-KR">
                <a:ea typeface="+mn-lt"/>
                <a:cs typeface="+mn-lt"/>
              </a:rPr>
              <a:t> 객체의 테두리 범위를 비교하여 충돌 여부를 0.01초의 오차 없이 감지.</a:t>
            </a:r>
            <a:endParaRPr lang="ko-KR" dirty="0">
              <a:ea typeface="+mn-lt"/>
              <a:cs typeface="+mn-lt"/>
            </a:endParaRPr>
          </a:p>
          <a:p>
            <a:pPr>
              <a:buFont typeface="Arial"/>
              <a:buChar char="•"/>
              <a:tabLst>
                <a:tab pos="408240" algn="l"/>
              </a:tabLst>
            </a:pPr>
            <a:endParaRPr lang="ko-KR" dirty="0">
              <a:ea typeface="+mn-lt"/>
              <a:cs typeface="+mn-lt"/>
            </a:endParaRPr>
          </a:p>
          <a:p>
            <a:pPr>
              <a:buFont typeface="Arial"/>
              <a:buChar char="•"/>
              <a:tabLst>
                <a:tab pos="408240" algn="l"/>
              </a:tabLst>
            </a:pPr>
            <a:endParaRPr lang="ko-KR" altLang="en-US" dirty="0">
              <a:ea typeface="+mn-lt"/>
              <a:cs typeface="+mn-lt"/>
            </a:endParaRPr>
          </a:p>
          <a:p>
            <a:pPr>
              <a:buFont typeface="Arial"/>
              <a:buChar char="•"/>
              <a:tabLst>
                <a:tab pos="408240" algn="l"/>
              </a:tabLst>
            </a:pPr>
            <a:r>
              <a:rPr lang="ko-KR" b="1">
                <a:ea typeface="+mn-lt"/>
                <a:cs typeface="+mn-lt"/>
              </a:rPr>
              <a:t>벡터 반전:</a:t>
            </a:r>
            <a:r>
              <a:rPr lang="ko-KR">
                <a:ea typeface="+mn-lt"/>
                <a:cs typeface="+mn-lt"/>
              </a:rPr>
              <a:t> 벽이나 패들에 충돌 시 수직 속도(</a:t>
            </a:r>
            <a:r>
              <a:rPr lang="ko-KR">
                <a:latin typeface="Consolas"/>
                <a:cs typeface="Arial"/>
              </a:rPr>
              <a:t>dy</a:t>
            </a:r>
            <a:r>
              <a:rPr lang="ko-KR">
                <a:ea typeface="+mn-lt"/>
                <a:cs typeface="+mn-lt"/>
              </a:rPr>
              <a:t>)에 </a:t>
            </a:r>
            <a:r>
              <a:rPr lang="ko-KR">
                <a:latin typeface="Consolas"/>
                <a:cs typeface="Arial"/>
              </a:rPr>
              <a:t>-1</a:t>
            </a:r>
            <a:r>
              <a:rPr lang="ko-KR">
                <a:ea typeface="+mn-lt"/>
                <a:cs typeface="+mn-lt"/>
              </a:rPr>
              <a:t>을 곱해 즉각적인 반사 운동을 구현함.</a:t>
            </a:r>
          </a:p>
          <a:p>
            <a:pPr>
              <a:buFont typeface="Arial"/>
              <a:buChar char="•"/>
              <a:tabLst>
                <a:tab pos="408240" algn="l"/>
              </a:tabLst>
            </a:pPr>
            <a:endParaRPr lang="ko-KR" dirty="0">
              <a:ea typeface="+mn-lt"/>
              <a:cs typeface="+mn-lt"/>
            </a:endParaRPr>
          </a:p>
          <a:p>
            <a:pPr>
              <a:buFont typeface="Arial"/>
              <a:buChar char="•"/>
              <a:tabLst>
                <a:tab pos="408240" algn="l"/>
              </a:tabLst>
            </a:pPr>
            <a:endParaRPr lang="ko-KR" altLang="en-US" dirty="0">
              <a:ea typeface="+mn-lt"/>
              <a:cs typeface="+mn-lt"/>
            </a:endParaRPr>
          </a:p>
          <a:p>
            <a:pPr>
              <a:buFont typeface="Arial"/>
              <a:buChar char="•"/>
              <a:tabLst>
                <a:tab pos="408240" algn="l"/>
              </a:tabLst>
            </a:pPr>
            <a:r>
              <a:rPr lang="ko-KR" b="1">
                <a:ea typeface="+mn-lt"/>
                <a:cs typeface="+mn-lt"/>
              </a:rPr>
              <a:t>핵심 키워드:</a:t>
            </a:r>
            <a:r>
              <a:rPr lang="ko-KR">
                <a:ea typeface="+mn-lt"/>
                <a:cs typeface="+mn-lt"/>
              </a:rPr>
              <a:t> 벡터 반전, AABB 알고리즘, 경계값 검사.</a:t>
            </a:r>
            <a:endParaRPr lang="ko-KR" alt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endParaRPr lang="ko-KR" dirty="0">
              <a:cs typeface="Arial"/>
            </a:endParaRPr>
          </a:p>
          <a:p>
            <a:pPr>
              <a:tabLst>
                <a:tab pos="408240" algn="l"/>
              </a:tabLst>
            </a:pPr>
            <a:endParaRPr lang="ko-KR" altLang="en-US" dirty="0">
              <a:cs typeface="Arial"/>
            </a:endParaRPr>
          </a:p>
          <a:p>
            <a:pPr>
              <a:lnSpc>
                <a:spcPct val="114999"/>
              </a:lnSpc>
              <a:buNone/>
              <a:tabLst>
                <a:tab pos="408240" algn="l"/>
              </a:tabLst>
            </a:pPr>
            <a:endParaRPr lang="en-US" altLang="ko-KR" sz="1400" strike="noStrike" spc="-151" dirty="0">
              <a:latin typeface="맑은 고딕"/>
              <a:ea typeface="맑은 고딕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B6EEC242-590F-3C0E-5B63-1FE7064F90B8}"/>
              </a:ext>
            </a:extLst>
          </p:cNvPr>
          <p:cNvSpPr/>
          <p:nvPr/>
        </p:nvSpPr>
        <p:spPr>
          <a:xfrm>
            <a:off x="1127520" y="113545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408240" algn="l"/>
              </a:tabLst>
            </a:pPr>
            <a:r>
              <a:rPr lang="en-US" altLang="ko-KR" b="1" spc="-100">
                <a:solidFill>
                  <a:srgbClr val="3B3838"/>
                </a:solidFill>
                <a:latin typeface="맑은 고딕"/>
                <a:ea typeface="맑은 고딕"/>
              </a:rPr>
              <a:t>8. Main 구현 - 충돌 및 속도 반전</a:t>
            </a:r>
            <a:endParaRPr lang="ko-KR" altLang="ko-KR" b="1" spc="-100">
              <a:solidFill>
                <a:srgbClr val="3B38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31">
            <a:extLst>
              <a:ext uri="{FF2B5EF4-FFF2-40B4-BE49-F238E27FC236}">
                <a16:creationId xmlns:a16="http://schemas.microsoft.com/office/drawing/2014/main" id="{D60933D0-8380-6080-4FF8-B846BA7588AA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6AB96D-23C4-5E5C-4D2E-DD47A1CE9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929" y="991962"/>
            <a:ext cx="5163912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413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9E059-01B5-709D-3635-C2687D63A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직사각형 27">
            <a:extLst>
              <a:ext uri="{FF2B5EF4-FFF2-40B4-BE49-F238E27FC236}">
                <a16:creationId xmlns:a16="http://schemas.microsoft.com/office/drawing/2014/main" id="{65DE0E0C-EA3C-BF63-81B6-2F5ED60E1CDF}"/>
              </a:ext>
            </a:extLst>
          </p:cNvPr>
          <p:cNvSpPr/>
          <p:nvPr/>
        </p:nvSpPr>
        <p:spPr>
          <a:xfrm>
            <a:off x="227520" y="191880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7" name="직선 연결선 9">
            <a:extLst>
              <a:ext uri="{FF2B5EF4-FFF2-40B4-BE49-F238E27FC236}">
                <a16:creationId xmlns:a16="http://schemas.microsoft.com/office/drawing/2014/main" id="{B49D9A31-072D-F5BE-982C-82EF96D8E384}"/>
              </a:ext>
            </a:extLst>
          </p:cNvPr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8" name="TextBox 57">
            <a:extLst>
              <a:ext uri="{FF2B5EF4-FFF2-40B4-BE49-F238E27FC236}">
                <a16:creationId xmlns:a16="http://schemas.microsoft.com/office/drawing/2014/main" id="{5FB18D60-5797-D6F8-74D2-EEB44A67828E}"/>
              </a:ext>
            </a:extLst>
          </p:cNvPr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04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79" name="TextBox 58">
            <a:extLst>
              <a:ext uri="{FF2B5EF4-FFF2-40B4-BE49-F238E27FC236}">
                <a16:creationId xmlns:a16="http://schemas.microsoft.com/office/drawing/2014/main" id="{B57BFDEA-F657-E125-DA9A-B072D20F2AD7}"/>
              </a:ext>
            </a:extLst>
          </p:cNvPr>
          <p:cNvSpPr/>
          <p:nvPr/>
        </p:nvSpPr>
        <p:spPr>
          <a:xfrm>
            <a:off x="515520" y="385200"/>
            <a:ext cx="2594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sz="2400" b="0" strike="noStrike" spc="-1">
                <a:solidFill>
                  <a:srgbClr val="404040"/>
                </a:solidFill>
                <a:latin typeface="휴먼둥근헤드라인"/>
                <a:ea typeface="휴먼둥근헤드라인"/>
              </a:rPr>
              <a:t>프로젝트 수행 경과</a:t>
            </a:r>
            <a:endParaRPr lang="en-US" sz="2400" b="0" strike="noStrike" spc="-1">
              <a:latin typeface="Noto Sans CJK KR"/>
            </a:endParaRPr>
          </a:p>
        </p:txBody>
      </p:sp>
      <p:sp>
        <p:nvSpPr>
          <p:cNvPr id="180" name="직사각형 42">
            <a:extLst>
              <a:ext uri="{FF2B5EF4-FFF2-40B4-BE49-F238E27FC236}">
                <a16:creationId xmlns:a16="http://schemas.microsoft.com/office/drawing/2014/main" id="{B7617EB3-480F-A611-7382-1D6305972801}"/>
              </a:ext>
            </a:extLst>
          </p:cNvPr>
          <p:cNvSpPr/>
          <p:nvPr/>
        </p:nvSpPr>
        <p:spPr>
          <a:xfrm>
            <a:off x="461451" y="1594689"/>
            <a:ext cx="5553432" cy="31166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buFont typeface="Arial"/>
              <a:buChar char="•"/>
              <a:tabLst>
                <a:tab pos="408240" algn="l"/>
              </a:tabLst>
            </a:pPr>
            <a:r>
              <a:rPr lang="ko-KR" altLang="en-US" sz="1600" b="1">
                <a:ea typeface="+mn-lt"/>
                <a:cs typeface="+mn-lt"/>
              </a:rPr>
              <a:t>로직 요약</a:t>
            </a:r>
            <a:r>
              <a:rPr lang="en-US" altLang="ko-KR" sz="1600" b="1">
                <a:ea typeface="+mn-lt"/>
                <a:cs typeface="+mn-lt"/>
              </a:rPr>
              <a:t>:</a:t>
            </a:r>
            <a:endParaRPr lang="en-US" altLang="ko-KR" sz="1600" b="1" dirty="0">
              <a:ea typeface="+mn-lt"/>
              <a:cs typeface="+mn-lt"/>
            </a:endParaRPr>
          </a:p>
          <a:p>
            <a:pPr>
              <a:tabLst>
                <a:tab pos="408240" algn="l"/>
              </a:tabLst>
            </a:pPr>
            <a:endParaRPr lang="en-US" altLang="ko-KR" sz="1600" b="1" dirty="0">
              <a:ea typeface="+mn-lt"/>
              <a:cs typeface="+mn-lt"/>
            </a:endParaRPr>
          </a:p>
          <a:p>
            <a:pPr>
              <a:buFont typeface="Arial"/>
              <a:buChar char="•"/>
              <a:tabLst>
                <a:tab pos="408240" algn="l"/>
              </a:tabLst>
            </a:pPr>
            <a:r>
              <a:rPr lang="ko-KR" altLang="en-US" sz="1600" b="1">
                <a:ea typeface="+mn-lt"/>
                <a:cs typeface="+mn-lt"/>
              </a:rPr>
              <a:t>레벨 가속 로직</a:t>
            </a:r>
            <a:r>
              <a:rPr lang="en-US" altLang="ko-KR" sz="1600" b="1">
                <a:ea typeface="+mn-lt"/>
                <a:cs typeface="+mn-lt"/>
              </a:rPr>
              <a:t>:</a:t>
            </a:r>
            <a:r>
              <a:rPr lang="ko-KR" altLang="en-US" sz="1600" dirty="0">
                <a:ea typeface="+mn-lt"/>
                <a:cs typeface="+mn-lt"/>
              </a:rPr>
              <a:t> </a:t>
            </a:r>
            <a:r>
              <a:rPr lang="en-US" altLang="ko-KR" sz="1600">
                <a:latin typeface="Consolas"/>
                <a:ea typeface="+mn-lt"/>
                <a:cs typeface="+mn-lt"/>
              </a:rPr>
              <a:t>allBroken</a:t>
            </a:r>
            <a:r>
              <a:rPr lang="ko-KR" altLang="en-US" sz="1600">
                <a:ea typeface="+mn-lt"/>
                <a:cs typeface="+mn-lt"/>
              </a:rPr>
              <a:t> 상태를 감지하여 레벨을 높이고</a:t>
            </a:r>
            <a:r>
              <a:rPr lang="en-US" altLang="ko-KR" sz="1600">
                <a:ea typeface="+mn-lt"/>
                <a:cs typeface="+mn-lt"/>
              </a:rPr>
              <a:t>,</a:t>
            </a:r>
            <a:r>
              <a:rPr lang="ko-KR" altLang="en-US" sz="1600">
                <a:ea typeface="+mn-lt"/>
                <a:cs typeface="+mn-lt"/>
              </a:rPr>
              <a:t> 공의 속도를 </a:t>
            </a:r>
            <a:r>
              <a:rPr lang="en-US" altLang="ko-KR" sz="1600">
                <a:latin typeface="Consolas"/>
                <a:ea typeface="+mn-lt"/>
                <a:cs typeface="+mn-lt"/>
              </a:rPr>
              <a:t>1.1</a:t>
            </a:r>
            <a:r>
              <a:rPr lang="ko-KR" altLang="en-US" sz="1600">
                <a:latin typeface="Consolas"/>
                <a:ea typeface="+mn-lt"/>
                <a:cs typeface="+mn-lt"/>
              </a:rPr>
              <a:t>배</a:t>
            </a:r>
            <a:r>
              <a:rPr lang="ko-KR" altLang="en-US" sz="1600">
                <a:ea typeface="+mn-lt"/>
                <a:cs typeface="+mn-lt"/>
              </a:rPr>
              <a:t> 가속하여 난이도 곡선을 설계함</a:t>
            </a:r>
            <a:r>
              <a:rPr lang="en-US" altLang="ko-KR" sz="1600">
                <a:ea typeface="+mn-lt"/>
                <a:cs typeface="+mn-lt"/>
              </a:rPr>
              <a:t>.</a:t>
            </a:r>
            <a:endParaRPr lang="en-US" altLang="ko-KR" sz="1600" dirty="0">
              <a:cs typeface="Arial"/>
            </a:endParaRPr>
          </a:p>
          <a:p>
            <a:pPr>
              <a:buFont typeface="Arial"/>
              <a:buChar char="•"/>
              <a:tabLst>
                <a:tab pos="408240" algn="l"/>
              </a:tabLst>
            </a:pPr>
            <a:endParaRPr lang="en-US" altLang="ko-KR" sz="1600" dirty="0">
              <a:ea typeface="+mn-lt"/>
              <a:cs typeface="+mn-lt"/>
            </a:endParaRPr>
          </a:p>
          <a:p>
            <a:pPr>
              <a:buFont typeface="Arial"/>
              <a:buChar char="•"/>
              <a:tabLst>
                <a:tab pos="408240" algn="l"/>
              </a:tabLst>
            </a:pPr>
            <a:endParaRPr lang="en-US" altLang="ko-KR" sz="1600" dirty="0">
              <a:ea typeface="+mn-lt"/>
              <a:cs typeface="+mn-lt"/>
            </a:endParaRPr>
          </a:p>
          <a:p>
            <a:pPr>
              <a:buFont typeface="Arial"/>
              <a:buChar char="•"/>
              <a:tabLst>
                <a:tab pos="408240" algn="l"/>
              </a:tabLst>
            </a:pPr>
            <a:r>
              <a:rPr lang="ko-KR" altLang="en-US" sz="1600" b="1">
                <a:ea typeface="+mn-lt"/>
                <a:cs typeface="+mn-lt"/>
              </a:rPr>
              <a:t>그리드 자동 배치</a:t>
            </a:r>
            <a:r>
              <a:rPr lang="en-US" altLang="ko-KR" sz="1600" b="1">
                <a:ea typeface="+mn-lt"/>
                <a:cs typeface="+mn-lt"/>
              </a:rPr>
              <a:t>:</a:t>
            </a:r>
            <a:r>
              <a:rPr lang="ko-KR" altLang="en-US" sz="1600">
                <a:ea typeface="+mn-lt"/>
                <a:cs typeface="+mn-lt"/>
              </a:rPr>
              <a:t> 화면 너비와 벽돌 크기를 계산하여 </a:t>
            </a:r>
            <a:r>
              <a:rPr lang="en-US" altLang="ko-KR" sz="1600">
                <a:ea typeface="+mn-lt"/>
                <a:cs typeface="+mn-lt"/>
              </a:rPr>
              <a:t>2.5px</a:t>
            </a:r>
            <a:r>
              <a:rPr lang="ko-KR" altLang="en-US" sz="1600">
                <a:ea typeface="+mn-lt"/>
                <a:cs typeface="+mn-lt"/>
              </a:rPr>
              <a:t>의 오차 없는 대칭 배치를 구현함</a:t>
            </a:r>
            <a:r>
              <a:rPr lang="en-US" altLang="ko-KR" sz="1600">
                <a:ea typeface="+mn-lt"/>
                <a:cs typeface="+mn-lt"/>
              </a:rPr>
              <a:t>.</a:t>
            </a:r>
            <a:endParaRPr lang="ko-KR" altLang="en-US" sz="1600"/>
          </a:p>
          <a:p>
            <a:pPr>
              <a:buFont typeface="Arial"/>
              <a:buChar char="•"/>
              <a:tabLst>
                <a:tab pos="408240" algn="l"/>
              </a:tabLst>
            </a:pPr>
            <a:endParaRPr lang="ko-K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tabLst>
                <a:tab pos="408240" algn="l"/>
              </a:tabLst>
            </a:pPr>
            <a:endParaRPr lang="ko-KR" dirty="0">
              <a:cs typeface="Arial"/>
            </a:endParaRPr>
          </a:p>
          <a:p>
            <a:pPr>
              <a:tabLst>
                <a:tab pos="408240" algn="l"/>
              </a:tabLst>
            </a:pPr>
            <a:endParaRPr lang="ko-KR" altLang="en-US" dirty="0">
              <a:cs typeface="Arial"/>
            </a:endParaRPr>
          </a:p>
          <a:p>
            <a:pPr>
              <a:lnSpc>
                <a:spcPct val="114999"/>
              </a:lnSpc>
              <a:buNone/>
              <a:tabLst>
                <a:tab pos="408240" algn="l"/>
              </a:tabLst>
            </a:pPr>
            <a:endParaRPr lang="en-US" altLang="ko-KR" sz="1400" strike="noStrike" spc="-151" dirty="0">
              <a:latin typeface="맑은 고딕"/>
              <a:ea typeface="맑은 고딕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5D98186D-F5AF-6BF7-E0B8-C39D867A1AFC}"/>
              </a:ext>
            </a:extLst>
          </p:cNvPr>
          <p:cNvSpPr/>
          <p:nvPr/>
        </p:nvSpPr>
        <p:spPr>
          <a:xfrm>
            <a:off x="1127520" y="1135450"/>
            <a:ext cx="7416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408240" algn="l"/>
              </a:tabLst>
            </a:pPr>
            <a:r>
              <a:rPr lang="en-US" altLang="ko-KR" b="1" spc="-100">
                <a:solidFill>
                  <a:srgbClr val="3B3838"/>
                </a:solidFill>
                <a:latin typeface="맑은 고딕"/>
                <a:ea typeface="맑은 고딕"/>
              </a:rPr>
              <a:t>9. Main 구현 - 시스템 관리</a:t>
            </a:r>
            <a:endParaRPr lang="ko-KR" altLang="ko-KR" b="1" spc="-100">
              <a:solidFill>
                <a:srgbClr val="3B38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31">
            <a:extLst>
              <a:ext uri="{FF2B5EF4-FFF2-40B4-BE49-F238E27FC236}">
                <a16:creationId xmlns:a16="http://schemas.microsoft.com/office/drawing/2014/main" id="{AD84F8C8-ADA3-A0EF-9998-59BDA7F42746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C17E05-3939-F2BD-5BC3-0016A8C16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11" y="3754211"/>
            <a:ext cx="3186794" cy="2751365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FFD4BF-2485-A2E1-8C53-77720302B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469" y="1313089"/>
            <a:ext cx="5550777" cy="376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859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0">
          <a:gsLst>
            <a:gs pos="0">
              <a:srgbClr val="F5DF4D"/>
            </a:gs>
            <a:gs pos="100000">
              <a:srgbClr val="F6E25F">
                <a:alpha val="70196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직사각형 10"/>
          <p:cNvSpPr/>
          <p:nvPr/>
        </p:nvSpPr>
        <p:spPr>
          <a:xfrm>
            <a:off x="266040" y="185040"/>
            <a:ext cx="11736720" cy="64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4" name="TextBox 3"/>
          <p:cNvSpPr/>
          <p:nvPr/>
        </p:nvSpPr>
        <p:spPr>
          <a:xfrm>
            <a:off x="255960" y="198000"/>
            <a:ext cx="115992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휴먼둥근헤드라인"/>
                <a:ea typeface="휴먼둥근헤드라인"/>
              </a:rPr>
              <a:t>04</a:t>
            </a:r>
            <a:r>
              <a:rPr lang="en-US" sz="4000" b="1" strike="noStrike" spc="-1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en-US" sz="4000" b="0" strike="noStrike" spc="-1">
              <a:latin typeface="Noto Sans CJK KR"/>
            </a:endParaRPr>
          </a:p>
        </p:txBody>
      </p:sp>
      <p:sp>
        <p:nvSpPr>
          <p:cNvPr id="188" name="직사각형 5"/>
          <p:cNvSpPr/>
          <p:nvPr/>
        </p:nvSpPr>
        <p:spPr>
          <a:xfrm>
            <a:off x="1080610" y="1180460"/>
            <a:ext cx="8664120" cy="4830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408240" algn="l"/>
              </a:tabLst>
            </a:pPr>
            <a:r>
              <a:rPr lang="ko-KR" altLang="en-US" sz="1400" spc="-151">
                <a:latin typeface="맑은 고딕"/>
                <a:ea typeface="맑은 고딕"/>
              </a:rPr>
              <a:t>Gui 라이브러리 사용:</a:t>
            </a:r>
            <a:endParaRPr lang="ko-KR" altLang="en-US" sz="1400" spc="-151" dirty="0">
              <a:latin typeface="맑은 고딕"/>
              <a:ea typeface="맑은 고딕"/>
            </a:endParaRPr>
          </a:p>
          <a:p>
            <a:pPr>
              <a:tabLst>
                <a:tab pos="408240" algn="l"/>
              </a:tabLst>
            </a:pPr>
            <a:r>
              <a:rPr lang="ko-KR" altLang="en-US" sz="1400" spc="-151">
                <a:latin typeface="맑은 고딕"/>
                <a:ea typeface="맑은 고딕"/>
              </a:rPr>
              <a:t>JavaFx의 canvas와 graphicsContext를 처음 접하여 초기에는 다소 생소하였으나,  객체를 직접 그려보고 제어하여</a:t>
            </a:r>
            <a:endParaRPr lang="ko-KR"/>
          </a:p>
          <a:p>
            <a:pPr>
              <a:tabLst>
                <a:tab pos="408240" algn="l"/>
              </a:tabLst>
            </a:pPr>
            <a:r>
              <a:rPr lang="ko-KR" altLang="en-US" sz="1400" spc="-151">
                <a:latin typeface="맑은 고딕"/>
                <a:ea typeface="맑은 고딕"/>
              </a:rPr>
              <a:t>GUI 프로그램의 동작 흐름을 손에 조금 익힐수 있었음.</a:t>
            </a:r>
            <a:endParaRPr lang="ko-KR" altLang="en-US" sz="1400" spc="-15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tabLst>
                <a:tab pos="408240" algn="l"/>
              </a:tabLst>
            </a:pPr>
            <a:endParaRPr lang="ko-KR" altLang="en-US" sz="1400" spc="-15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tabLst>
                <a:tab pos="408240" algn="l"/>
              </a:tabLst>
            </a:pPr>
            <a:r>
              <a:rPr lang="ko-KR" altLang="en-US" sz="1400" spc="-151">
                <a:latin typeface="맑은 고딕"/>
                <a:ea typeface="맑은 고딕"/>
              </a:rPr>
              <a:t>객체지향 설계:</a:t>
            </a:r>
          </a:p>
          <a:p>
            <a:pPr>
              <a:tabLst>
                <a:tab pos="408240" algn="l"/>
              </a:tabLst>
            </a:pPr>
            <a:r>
              <a:rPr lang="ko-KR" altLang="en-US" sz="1400" spc="-151">
                <a:latin typeface="맑은 고딕"/>
                <a:ea typeface="맑은 고딕"/>
              </a:rPr>
              <a:t>GameObject 추상 클래스와 Paintable 인터페이스를 설계하고, 기존 코드를 수정하지 않아도 Ball, Paddle,. Bricks등 </a:t>
            </a:r>
          </a:p>
          <a:p>
            <a:pPr>
              <a:tabLst>
                <a:tab pos="408240" algn="l"/>
              </a:tabLst>
            </a:pPr>
            <a:r>
              <a:rPr lang="ko-KR" altLang="en-US" sz="1400" spc="-151">
                <a:latin typeface="맑은 고딕"/>
                <a:ea typeface="맑은 고딕"/>
              </a:rPr>
              <a:t>여러 객체들을 확장하는 이점을 경험함</a:t>
            </a:r>
          </a:p>
          <a:p>
            <a:pPr>
              <a:tabLst>
                <a:tab pos="408240" algn="l"/>
              </a:tabLst>
            </a:pPr>
            <a:endParaRPr lang="ko-KR" altLang="en-US" sz="1400" spc="-15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tabLst>
                <a:tab pos="408240" algn="l"/>
              </a:tabLst>
            </a:pPr>
            <a:r>
              <a:rPr lang="ko-KR" altLang="en-US" sz="1400" spc="-151">
                <a:latin typeface="맑은 고딕"/>
                <a:ea typeface="맑은 고딕"/>
              </a:rPr>
              <a:t>빌드 도구 활용:</a:t>
            </a:r>
          </a:p>
          <a:p>
            <a:pPr>
              <a:tabLst>
                <a:tab pos="408240" algn="l"/>
              </a:tabLst>
            </a:pPr>
            <a:r>
              <a:rPr lang="ko-KR" altLang="en-US" sz="1400" spc="-151" dirty="0">
                <a:latin typeface="맑은 고딕"/>
                <a:ea typeface="맑은 고딕"/>
              </a:rPr>
              <a:t>Maven 환경에서 외부 라이브러리를 활용하고,  여러 클래스 파일을 구성하는 과정을 경험 했고,</a:t>
            </a:r>
            <a:br>
              <a:rPr lang="ko-KR" altLang="en-US" sz="1400" spc="-151" dirty="0">
                <a:latin typeface="맑은 고딕"/>
                <a:ea typeface="맑은 고딕"/>
              </a:rPr>
            </a:br>
            <a:r>
              <a:rPr lang="ko-KR" altLang="en-US" sz="1400" spc="-151">
                <a:latin typeface="맑은 고딕"/>
                <a:ea typeface="맑은 고딕"/>
              </a:rPr>
              <a:t>Run 버튼이 아닌 Terrminal 창에서 mvn 명령어를 조금 익힐수 있었음</a:t>
            </a:r>
          </a:p>
          <a:p>
            <a:pPr>
              <a:tabLst>
                <a:tab pos="408240" algn="l"/>
              </a:tabLst>
            </a:pPr>
            <a:endParaRPr lang="ko-KR" altLang="en-US" sz="1400" spc="-15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tabLst>
                <a:tab pos="408240" algn="l"/>
              </a:tabLst>
            </a:pPr>
            <a:r>
              <a:rPr lang="ko-KR" altLang="en-US" sz="1400" spc="-151">
                <a:latin typeface="맑은 고딕"/>
                <a:ea typeface="맑은 고딕"/>
              </a:rPr>
              <a:t>코딩 역량 강화:</a:t>
            </a:r>
          </a:p>
          <a:p>
            <a:pPr>
              <a:tabLst>
                <a:tab pos="408240" algn="l"/>
              </a:tabLst>
            </a:pPr>
            <a:r>
              <a:rPr lang="ko-KR" altLang="en-US" sz="1400" spc="-151">
                <a:latin typeface="맑은 고딕"/>
                <a:ea typeface="맑은 고딕"/>
              </a:rPr>
              <a:t>단순 예제 옮겨적기가 아닌, 공의 지름과 벽돌,  scene의 widht와 height의 변수 값들을 조율하고 직접 고민하여 코드로 구현해냄. </a:t>
            </a:r>
          </a:p>
          <a:p>
            <a:pPr>
              <a:tabLst>
                <a:tab pos="408240" algn="l"/>
              </a:tabLst>
            </a:pPr>
            <a:endParaRPr lang="ko-KR" altLang="en-US" sz="1400" spc="-15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tabLst>
                <a:tab pos="408240" algn="l"/>
              </a:tabLst>
            </a:pPr>
            <a:r>
              <a:rPr lang="ko-KR" altLang="en-US" sz="1400" spc="-151" dirty="0">
                <a:latin typeface="맑은 고딕"/>
                <a:ea typeface="맑은 고딕"/>
              </a:rPr>
              <a:t>오버라이딩:  AnimationTimer  같은 자바 내장 클래스의 작동 원리 분석, 필요한 메서드를 오버라이딩 하여 필요한 로직을 </a:t>
            </a:r>
            <a:endParaRPr lang="ko-KR" altLang="en-US" sz="1400" spc="-15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tabLst>
                <a:tab pos="408240" algn="l"/>
              </a:tabLst>
            </a:pPr>
            <a:r>
              <a:rPr lang="ko-KR" altLang="en-US" sz="1400" spc="-151">
                <a:latin typeface="맑은 고딕"/>
                <a:ea typeface="맑은 고딕"/>
              </a:rPr>
              <a:t>구현하여 실행하는 경험을 하였음.</a:t>
            </a:r>
            <a:endParaRPr lang="ko-KR" altLang="en-US" sz="1400" spc="-15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tabLst>
                <a:tab pos="408240" algn="l"/>
              </a:tabLst>
            </a:pPr>
            <a:endParaRPr lang="ko-KR" altLang="en-US" sz="1400" spc="-15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tabLst>
                <a:tab pos="408240" algn="l"/>
              </a:tabLst>
            </a:pPr>
            <a:r>
              <a:rPr lang="ko-KR" altLang="en-US" sz="1400" spc="-151">
                <a:latin typeface="맑은 고딕"/>
                <a:ea typeface="맑은 고딕"/>
              </a:rPr>
              <a:t>문제 오류:</a:t>
            </a:r>
          </a:p>
          <a:p>
            <a:pPr>
              <a:tabLst>
                <a:tab pos="408240" algn="l"/>
              </a:tabLst>
            </a:pPr>
            <a:r>
              <a:rPr lang="ko-KR" altLang="en-US" sz="1400" spc="-151" dirty="0">
                <a:latin typeface="맑은 고딕"/>
                <a:ea typeface="맑은 고딕"/>
              </a:rPr>
              <a:t>프로젝트를 새로 만드는 과정에서, 기존의 공부했던 파일을 활용하긴 하였으나, 상속을 받거나 하진 않고.</a:t>
            </a:r>
            <a:br>
              <a:rPr lang="ko-KR" altLang="en-US" sz="1400" spc="-151" dirty="0">
                <a:latin typeface="맑은 고딕"/>
                <a:ea typeface="맑은 고딕"/>
              </a:rPr>
            </a:br>
            <a:r>
              <a:rPr lang="ko-KR" altLang="en-US" sz="1400" spc="-151">
                <a:latin typeface="맑은 고딕"/>
                <a:ea typeface="맑은 고딕"/>
              </a:rPr>
              <a:t>새로 new create project file을 만들어서 다시 만들었음..</a:t>
            </a:r>
          </a:p>
        </p:txBody>
      </p:sp>
      <p:sp>
        <p:nvSpPr>
          <p:cNvPr id="2" name="직선 연결선 9">
            <a:extLst>
              <a:ext uri="{FF2B5EF4-FFF2-40B4-BE49-F238E27FC236}">
                <a16:creationId xmlns:a16="http://schemas.microsoft.com/office/drawing/2014/main" id="{EDC167F4-A777-1173-DE7E-A830D5DB17A1}"/>
              </a:ext>
            </a:extLst>
          </p:cNvPr>
          <p:cNvSpPr/>
          <p:nvPr/>
        </p:nvSpPr>
        <p:spPr>
          <a:xfrm flipV="1">
            <a:off x="3240000" y="980640"/>
            <a:ext cx="8647920" cy="2232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TextBox 58">
            <a:extLst>
              <a:ext uri="{FF2B5EF4-FFF2-40B4-BE49-F238E27FC236}">
                <a16:creationId xmlns:a16="http://schemas.microsoft.com/office/drawing/2014/main" id="{9931D30D-7F5C-874C-88BE-166F7E6971F7}"/>
              </a:ext>
            </a:extLst>
          </p:cNvPr>
          <p:cNvSpPr/>
          <p:nvPr/>
        </p:nvSpPr>
        <p:spPr>
          <a:xfrm>
            <a:off x="515520" y="385200"/>
            <a:ext cx="2335168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ko-KR" altLang="ko-KR" sz="2400" b="0" strike="noStrike" spc="-1" dirty="0">
                <a:solidFill>
                  <a:srgbClr val="404040"/>
                </a:solidFill>
                <a:latin typeface="휴먼둥근헤드라인"/>
                <a:ea typeface="휴먼둥근헤드라인"/>
              </a:rPr>
              <a:t>자체 평가 의견</a:t>
            </a:r>
            <a:endParaRPr lang="en-US" altLang="ko-KR" sz="2400" b="0" strike="noStrike" spc="-1" dirty="0">
              <a:latin typeface="Noto Sans CJK KR"/>
            </a:endParaRPr>
          </a:p>
        </p:txBody>
      </p:sp>
      <p:sp>
        <p:nvSpPr>
          <p:cNvPr id="6" name="TextBox 31">
            <a:extLst>
              <a:ext uri="{FF2B5EF4-FFF2-40B4-BE49-F238E27FC236}">
                <a16:creationId xmlns:a16="http://schemas.microsoft.com/office/drawing/2014/main" id="{0322ED48-7DB5-93CF-CBE7-8FBF39A2A6EC}"/>
              </a:ext>
            </a:extLst>
          </p:cNvPr>
          <p:cNvSpPr/>
          <p:nvPr/>
        </p:nvSpPr>
        <p:spPr>
          <a:xfrm>
            <a:off x="610200" y="1074620"/>
            <a:ext cx="50328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408240" algn="l"/>
              </a:tabLst>
            </a:pPr>
            <a:r>
              <a:rPr lang="en-US" sz="2800" b="1" strike="noStrike" spc="-1" dirty="0">
                <a:solidFill>
                  <a:srgbClr val="D0CECE"/>
                </a:solidFill>
                <a:latin typeface="HY견고딕"/>
                <a:ea typeface="HY견고딕"/>
              </a:rPr>
              <a:t>▶</a:t>
            </a:r>
            <a:endParaRPr lang="en-US" sz="2800" b="0" strike="noStrike" spc="-1" dirty="0">
              <a:latin typeface="Noto Sans CJK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431E"/>
      </a:accent1>
      <a:accent2>
        <a:srgbClr val="E41A00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431E"/>
      </a:accent1>
      <a:accent2>
        <a:srgbClr val="E41A00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431E"/>
      </a:accent1>
      <a:accent2>
        <a:srgbClr val="E41A00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2961</TotalTime>
  <Words>1152</Words>
  <Application>Microsoft Office PowerPoint</Application>
  <PresentationFormat>와이드스크린</PresentationFormat>
  <Paragraphs>213</Paragraphs>
  <Slides>17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19" baseType="lpstr"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김다은</dc:creator>
  <dc:description/>
  <cp:lastModifiedBy>sanghyeon chae</cp:lastModifiedBy>
  <cp:revision>751</cp:revision>
  <cp:lastPrinted>2023-10-05T23:14:22Z</cp:lastPrinted>
  <dcterms:created xsi:type="dcterms:W3CDTF">2014-04-29T00:37:20Z</dcterms:created>
  <dcterms:modified xsi:type="dcterms:W3CDTF">2026-01-16T15:30:35Z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와이드스크린</vt:lpwstr>
  </property>
  <property fmtid="{D5CDD505-2E9C-101B-9397-08002B2CF9AE}" pid="4" name="Slides">
    <vt:i4>13</vt:i4>
  </property>
</Properties>
</file>